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obby Jones" charset="1" panose="00000000000000000000"/>
      <p:regular r:id="rId16"/>
    </p:embeddedFont>
    <p:embeddedFont>
      <p:font typeface="Nunito Sans Condensed Bold" charset="1" panose="00000000000000000000"/>
      <p:regular r:id="rId17"/>
    </p:embeddedFont>
    <p:embeddedFont>
      <p:font typeface="Nunito Sans Condensed" charset="1" panose="00000000000000000000"/>
      <p:regular r:id="rId18"/>
    </p:embeddedFont>
    <p:embeddedFont>
      <p:font typeface="Nunito Sans Condensed Heavy"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30" Target="../media/image29.png" Type="http://schemas.openxmlformats.org/officeDocument/2006/relationships/image"/><Relationship Id="rId31" Target="../media/image3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media/image41.png" Type="http://schemas.openxmlformats.org/officeDocument/2006/relationships/image"/><Relationship Id="rId13" Target="../media/image42.png" Type="http://schemas.openxmlformats.org/officeDocument/2006/relationships/image"/><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media/image43.png" Type="http://schemas.openxmlformats.org/officeDocument/2006/relationships/image"/><Relationship Id="rId13" Target="../media/image44.png" Type="http://schemas.openxmlformats.org/officeDocument/2006/relationships/image"/><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png" Type="http://schemas.openxmlformats.org/officeDocument/2006/relationships/image"/><Relationship Id="rId11" Target="../media/image60.svg" Type="http://schemas.openxmlformats.org/officeDocument/2006/relationships/image"/><Relationship Id="rId12" Target="../media/image61.png" Type="http://schemas.openxmlformats.org/officeDocument/2006/relationships/image"/><Relationship Id="rId13" Target="../media/image62.svg" Type="http://schemas.openxmlformats.org/officeDocument/2006/relationships/image"/><Relationship Id="rId14" Target="../media/image63.png" Type="http://schemas.openxmlformats.org/officeDocument/2006/relationships/image"/><Relationship Id="rId15" Target="../media/image64.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15.png" Type="http://schemas.openxmlformats.org/officeDocument/2006/relationships/image"/><Relationship Id="rId19" Target="../media/image16.svg" Type="http://schemas.openxmlformats.org/officeDocument/2006/relationships/image"/><Relationship Id="rId2" Target="../media/image51.png" Type="http://schemas.openxmlformats.org/officeDocument/2006/relationships/image"/><Relationship Id="rId3" Target="../media/image52.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9.png" Type="http://schemas.openxmlformats.org/officeDocument/2006/relationships/image"/><Relationship Id="rId13" Target="../media/image30.svg" Type="http://schemas.openxmlformats.org/officeDocument/2006/relationships/image"/><Relationship Id="rId14" Target="../media/image71.png" Type="http://schemas.openxmlformats.org/officeDocument/2006/relationships/image"/><Relationship Id="rId2" Target="../media/image65.png" Type="http://schemas.openxmlformats.org/officeDocument/2006/relationships/image"/><Relationship Id="rId3" Target="../media/image66.svg" Type="http://schemas.openxmlformats.org/officeDocument/2006/relationships/image"/><Relationship Id="rId4" Target="../media/image67.png" Type="http://schemas.openxmlformats.org/officeDocument/2006/relationships/image"/><Relationship Id="rId5" Target="../media/image68.sv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0.png" Type="http://schemas.openxmlformats.org/officeDocument/2006/relationships/image"/><Relationship Id="rId11" Target="../media/image81.svg" Type="http://schemas.openxmlformats.org/officeDocument/2006/relationships/image"/><Relationship Id="rId12" Target="../media/image82.png" Type="http://schemas.openxmlformats.org/officeDocument/2006/relationships/image"/><Relationship Id="rId13" Target="../media/image83.svg" Type="http://schemas.openxmlformats.org/officeDocument/2006/relationships/image"/><Relationship Id="rId14" Target="../media/image84.png" Type="http://schemas.openxmlformats.org/officeDocument/2006/relationships/image"/><Relationship Id="rId15" Target="../media/image85.svg" Type="http://schemas.openxmlformats.org/officeDocument/2006/relationships/image"/><Relationship Id="rId2" Target="../media/image72.png" Type="http://schemas.openxmlformats.org/officeDocument/2006/relationships/image"/><Relationship Id="rId3" Target="../media/image73.svg" Type="http://schemas.openxmlformats.org/officeDocument/2006/relationships/image"/><Relationship Id="rId4" Target="../media/image74.png" Type="http://schemas.openxmlformats.org/officeDocument/2006/relationships/image"/><Relationship Id="rId5" Target="../media/image75.svg" Type="http://schemas.openxmlformats.org/officeDocument/2006/relationships/image"/><Relationship Id="rId6" Target="../media/image76.png" Type="http://schemas.openxmlformats.org/officeDocument/2006/relationships/image"/><Relationship Id="rId7" Target="../media/image77.svg" Type="http://schemas.openxmlformats.org/officeDocument/2006/relationships/image"/><Relationship Id="rId8" Target="../media/image78.png" Type="http://schemas.openxmlformats.org/officeDocument/2006/relationships/image"/><Relationship Id="rId9" Target="../media/image7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2.png" Type="http://schemas.openxmlformats.org/officeDocument/2006/relationships/image"/><Relationship Id="rId11" Target="../media/image83.svg" Type="http://schemas.openxmlformats.org/officeDocument/2006/relationships/image"/><Relationship Id="rId12" Target="../media/image84.png" Type="http://schemas.openxmlformats.org/officeDocument/2006/relationships/image"/><Relationship Id="rId13" Target="../media/image85.svg" Type="http://schemas.openxmlformats.org/officeDocument/2006/relationships/image"/><Relationship Id="rId14" Target="../media/image92.jpeg" Type="http://schemas.openxmlformats.org/officeDocument/2006/relationships/image"/><Relationship Id="rId2" Target="../media/image86.png" Type="http://schemas.openxmlformats.org/officeDocument/2006/relationships/image"/><Relationship Id="rId3" Target="../media/image87.svg" Type="http://schemas.openxmlformats.org/officeDocument/2006/relationships/image"/><Relationship Id="rId4" Target="../media/image88.png" Type="http://schemas.openxmlformats.org/officeDocument/2006/relationships/image"/><Relationship Id="rId5" Target="../media/image89.svg" Type="http://schemas.openxmlformats.org/officeDocument/2006/relationships/image"/><Relationship Id="rId6" Target="../media/image90.png" Type="http://schemas.openxmlformats.org/officeDocument/2006/relationships/image"/><Relationship Id="rId7" Target="../media/image91.svg" Type="http://schemas.openxmlformats.org/officeDocument/2006/relationships/image"/><Relationship Id="rId8" Target="../media/image80.png" Type="http://schemas.openxmlformats.org/officeDocument/2006/relationships/image"/><Relationship Id="rId9" Target="../media/image8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1.png" Type="http://schemas.openxmlformats.org/officeDocument/2006/relationships/image"/><Relationship Id="rId11" Target="../media/image102.svg" Type="http://schemas.openxmlformats.org/officeDocument/2006/relationships/image"/><Relationship Id="rId12" Target="../media/image80.png" Type="http://schemas.openxmlformats.org/officeDocument/2006/relationships/image"/><Relationship Id="rId13" Target="../media/image81.svg" Type="http://schemas.openxmlformats.org/officeDocument/2006/relationships/image"/><Relationship Id="rId14" Target="../media/image82.png" Type="http://schemas.openxmlformats.org/officeDocument/2006/relationships/image"/><Relationship Id="rId15" Target="../media/image83.svg" Type="http://schemas.openxmlformats.org/officeDocument/2006/relationships/image"/><Relationship Id="rId16" Target="../media/image84.png" Type="http://schemas.openxmlformats.org/officeDocument/2006/relationships/image"/><Relationship Id="rId17" Target="../media/image85.svg" Type="http://schemas.openxmlformats.org/officeDocument/2006/relationships/image"/><Relationship Id="rId18" Target="../media/image103.png" Type="http://schemas.openxmlformats.org/officeDocument/2006/relationships/image"/><Relationship Id="rId19" Target="../media/image104.svg" Type="http://schemas.openxmlformats.org/officeDocument/2006/relationships/image"/><Relationship Id="rId2" Target="../media/image93.png" Type="http://schemas.openxmlformats.org/officeDocument/2006/relationships/image"/><Relationship Id="rId3" Target="../media/image94.svg" Type="http://schemas.openxmlformats.org/officeDocument/2006/relationships/image"/><Relationship Id="rId4" Target="../media/image95.png" Type="http://schemas.openxmlformats.org/officeDocument/2006/relationships/image"/><Relationship Id="rId5" Target="../media/image96.svg" Type="http://schemas.openxmlformats.org/officeDocument/2006/relationships/image"/><Relationship Id="rId6" Target="../media/image97.png" Type="http://schemas.openxmlformats.org/officeDocument/2006/relationships/image"/><Relationship Id="rId7" Target="../media/image98.svg" Type="http://schemas.openxmlformats.org/officeDocument/2006/relationships/image"/><Relationship Id="rId8" Target="../media/image99.png" Type="http://schemas.openxmlformats.org/officeDocument/2006/relationships/image"/><Relationship Id="rId9" Target="../media/image10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29.png" Type="http://schemas.openxmlformats.org/officeDocument/2006/relationships/image"/><Relationship Id="rId13" Target="../media/image3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15.png" Type="http://schemas.openxmlformats.org/officeDocument/2006/relationships/image"/><Relationship Id="rId19" Target="../media/image16.svg" Type="http://schemas.openxmlformats.org/officeDocument/2006/relationships/image"/><Relationship Id="rId2" Target="../media/image105.png" Type="http://schemas.openxmlformats.org/officeDocument/2006/relationships/image"/><Relationship Id="rId20" Target="../media/image17.png" Type="http://schemas.openxmlformats.org/officeDocument/2006/relationships/image"/><Relationship Id="rId21" Target="../media/image18.svg" Type="http://schemas.openxmlformats.org/officeDocument/2006/relationships/image"/><Relationship Id="rId22" Target="../media/image19.png" Type="http://schemas.openxmlformats.org/officeDocument/2006/relationships/image"/><Relationship Id="rId23" Target="../media/image20.svg" Type="http://schemas.openxmlformats.org/officeDocument/2006/relationships/image"/><Relationship Id="rId24" Target="../media/image21.png" Type="http://schemas.openxmlformats.org/officeDocument/2006/relationships/image"/><Relationship Id="rId25" Target="../media/image22.svg" Type="http://schemas.openxmlformats.org/officeDocument/2006/relationships/image"/><Relationship Id="rId26" Target="../media/image23.png" Type="http://schemas.openxmlformats.org/officeDocument/2006/relationships/image"/><Relationship Id="rId27" Target="../media/image24.svg" Type="http://schemas.openxmlformats.org/officeDocument/2006/relationships/image"/><Relationship Id="rId3" Target="../media/image106.svg" Type="http://schemas.openxmlformats.org/officeDocument/2006/relationships/image"/><Relationship Id="rId4" Target="../media/image107.png" Type="http://schemas.openxmlformats.org/officeDocument/2006/relationships/image"/><Relationship Id="rId5" Target="../media/image108.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9568184">
            <a:off x="9357016" y="-2394393"/>
            <a:ext cx="6674314" cy="3904474"/>
          </a:xfrm>
          <a:custGeom>
            <a:avLst/>
            <a:gdLst/>
            <a:ahLst/>
            <a:cxnLst/>
            <a:rect r="r" b="b" t="t" l="l"/>
            <a:pathLst>
              <a:path h="3904474" w="6674314">
                <a:moveTo>
                  <a:pt x="0" y="0"/>
                </a:moveTo>
                <a:lnTo>
                  <a:pt x="6674314" y="0"/>
                </a:lnTo>
                <a:lnTo>
                  <a:pt x="6674314" y="3904473"/>
                </a:lnTo>
                <a:lnTo>
                  <a:pt x="0" y="39044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828878">
            <a:off x="-3731812" y="502049"/>
            <a:ext cx="12697160" cy="10411671"/>
          </a:xfrm>
          <a:custGeom>
            <a:avLst/>
            <a:gdLst/>
            <a:ahLst/>
            <a:cxnLst/>
            <a:rect r="r" b="b" t="t" l="l"/>
            <a:pathLst>
              <a:path h="10411671" w="12697160">
                <a:moveTo>
                  <a:pt x="0" y="0"/>
                </a:moveTo>
                <a:lnTo>
                  <a:pt x="12697160" y="0"/>
                </a:lnTo>
                <a:lnTo>
                  <a:pt x="12697160" y="10411671"/>
                </a:lnTo>
                <a:lnTo>
                  <a:pt x="0" y="104116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20000">
            <a:off x="1028700" y="1106138"/>
            <a:ext cx="16230600" cy="8074724"/>
          </a:xfrm>
          <a:custGeom>
            <a:avLst/>
            <a:gdLst/>
            <a:ahLst/>
            <a:cxnLst/>
            <a:rect r="r" b="b" t="t" l="l"/>
            <a:pathLst>
              <a:path h="8074724" w="16230600">
                <a:moveTo>
                  <a:pt x="0" y="0"/>
                </a:moveTo>
                <a:lnTo>
                  <a:pt x="16230600" y="0"/>
                </a:lnTo>
                <a:lnTo>
                  <a:pt x="16230600" y="8074724"/>
                </a:lnTo>
                <a:lnTo>
                  <a:pt x="0" y="80747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true" flipV="false" rot="-6187172">
            <a:off x="13483663" y="26865"/>
            <a:ext cx="6040737" cy="739990"/>
          </a:xfrm>
          <a:custGeom>
            <a:avLst/>
            <a:gdLst/>
            <a:ahLst/>
            <a:cxnLst/>
            <a:rect r="r" b="b" t="t" l="l"/>
            <a:pathLst>
              <a:path h="739990" w="6040737">
                <a:moveTo>
                  <a:pt x="6040736" y="0"/>
                </a:moveTo>
                <a:lnTo>
                  <a:pt x="0" y="0"/>
                </a:lnTo>
                <a:lnTo>
                  <a:pt x="0" y="739990"/>
                </a:lnTo>
                <a:lnTo>
                  <a:pt x="6040736" y="739990"/>
                </a:lnTo>
                <a:lnTo>
                  <a:pt x="604073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971835">
            <a:off x="13129868" y="-443354"/>
            <a:ext cx="3675470" cy="886707"/>
          </a:xfrm>
          <a:custGeom>
            <a:avLst/>
            <a:gdLst/>
            <a:ahLst/>
            <a:cxnLst/>
            <a:rect r="r" b="b" t="t" l="l"/>
            <a:pathLst>
              <a:path h="886707" w="3675470">
                <a:moveTo>
                  <a:pt x="0" y="0"/>
                </a:moveTo>
                <a:lnTo>
                  <a:pt x="3675470" y="0"/>
                </a:lnTo>
                <a:lnTo>
                  <a:pt x="3675470" y="886708"/>
                </a:lnTo>
                <a:lnTo>
                  <a:pt x="0" y="8867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856452">
            <a:off x="15282116" y="7253526"/>
            <a:ext cx="3954369" cy="2595054"/>
          </a:xfrm>
          <a:custGeom>
            <a:avLst/>
            <a:gdLst/>
            <a:ahLst/>
            <a:cxnLst/>
            <a:rect r="r" b="b" t="t" l="l"/>
            <a:pathLst>
              <a:path h="2595054" w="3954369">
                <a:moveTo>
                  <a:pt x="0" y="0"/>
                </a:moveTo>
                <a:lnTo>
                  <a:pt x="3954368" y="0"/>
                </a:lnTo>
                <a:lnTo>
                  <a:pt x="3954368" y="2595055"/>
                </a:lnTo>
                <a:lnTo>
                  <a:pt x="0" y="259505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509343" y="343977"/>
            <a:ext cx="2460566" cy="2969009"/>
          </a:xfrm>
          <a:custGeom>
            <a:avLst/>
            <a:gdLst/>
            <a:ahLst/>
            <a:cxnLst/>
            <a:rect r="r" b="b" t="t" l="l"/>
            <a:pathLst>
              <a:path h="2969009" w="2460566">
                <a:moveTo>
                  <a:pt x="0" y="0"/>
                </a:moveTo>
                <a:lnTo>
                  <a:pt x="2460566" y="0"/>
                </a:lnTo>
                <a:lnTo>
                  <a:pt x="2460566" y="2969009"/>
                </a:lnTo>
                <a:lnTo>
                  <a:pt x="0" y="29690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985578" y="1258233"/>
            <a:ext cx="1508096" cy="1140498"/>
          </a:xfrm>
          <a:custGeom>
            <a:avLst/>
            <a:gdLst/>
            <a:ahLst/>
            <a:cxnLst/>
            <a:rect r="r" b="b" t="t" l="l"/>
            <a:pathLst>
              <a:path h="1140498" w="1508096">
                <a:moveTo>
                  <a:pt x="0" y="0"/>
                </a:moveTo>
                <a:lnTo>
                  <a:pt x="1508096" y="0"/>
                </a:lnTo>
                <a:lnTo>
                  <a:pt x="1508096" y="1140498"/>
                </a:lnTo>
                <a:lnTo>
                  <a:pt x="0" y="11404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6176707" y="3743715"/>
            <a:ext cx="1817608" cy="2677876"/>
          </a:xfrm>
          <a:custGeom>
            <a:avLst/>
            <a:gdLst/>
            <a:ahLst/>
            <a:cxnLst/>
            <a:rect r="r" b="b" t="t" l="l"/>
            <a:pathLst>
              <a:path h="2677876" w="1817608">
                <a:moveTo>
                  <a:pt x="0" y="0"/>
                </a:moveTo>
                <a:lnTo>
                  <a:pt x="1817608" y="0"/>
                </a:lnTo>
                <a:lnTo>
                  <a:pt x="1817608" y="2677876"/>
                </a:lnTo>
                <a:lnTo>
                  <a:pt x="0" y="26778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6733353" y="4218461"/>
            <a:ext cx="704316" cy="1728383"/>
          </a:xfrm>
          <a:custGeom>
            <a:avLst/>
            <a:gdLst/>
            <a:ahLst/>
            <a:cxnLst/>
            <a:rect r="r" b="b" t="t" l="l"/>
            <a:pathLst>
              <a:path h="1728383" w="704316">
                <a:moveTo>
                  <a:pt x="0" y="0"/>
                </a:moveTo>
                <a:lnTo>
                  <a:pt x="704316" y="0"/>
                </a:lnTo>
                <a:lnTo>
                  <a:pt x="704316" y="1728384"/>
                </a:lnTo>
                <a:lnTo>
                  <a:pt x="0" y="172838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628320">
            <a:off x="13575553" y="8251160"/>
            <a:ext cx="2282834" cy="2377952"/>
          </a:xfrm>
          <a:custGeom>
            <a:avLst/>
            <a:gdLst/>
            <a:ahLst/>
            <a:cxnLst/>
            <a:rect r="r" b="b" t="t" l="l"/>
            <a:pathLst>
              <a:path h="2377952" w="2282834">
                <a:moveTo>
                  <a:pt x="0" y="0"/>
                </a:moveTo>
                <a:lnTo>
                  <a:pt x="2282834" y="0"/>
                </a:lnTo>
                <a:lnTo>
                  <a:pt x="2282834" y="2377952"/>
                </a:lnTo>
                <a:lnTo>
                  <a:pt x="0" y="237795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628320">
            <a:off x="13805471" y="8704150"/>
            <a:ext cx="1996434" cy="1432442"/>
          </a:xfrm>
          <a:custGeom>
            <a:avLst/>
            <a:gdLst/>
            <a:ahLst/>
            <a:cxnLst/>
            <a:rect r="r" b="b" t="t" l="l"/>
            <a:pathLst>
              <a:path h="1432442" w="1996434">
                <a:moveTo>
                  <a:pt x="0" y="0"/>
                </a:moveTo>
                <a:lnTo>
                  <a:pt x="1996434" y="0"/>
                </a:lnTo>
                <a:lnTo>
                  <a:pt x="1996434" y="1432442"/>
                </a:lnTo>
                <a:lnTo>
                  <a:pt x="0" y="143244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05231" y="2192162"/>
            <a:ext cx="4209769" cy="12566474"/>
          </a:xfrm>
          <a:custGeom>
            <a:avLst/>
            <a:gdLst/>
            <a:ahLst/>
            <a:cxnLst/>
            <a:rect r="r" b="b" t="t" l="l"/>
            <a:pathLst>
              <a:path h="12566474" w="4209769">
                <a:moveTo>
                  <a:pt x="0" y="0"/>
                </a:moveTo>
                <a:lnTo>
                  <a:pt x="4209768" y="0"/>
                </a:lnTo>
                <a:lnTo>
                  <a:pt x="4209768" y="12566474"/>
                </a:lnTo>
                <a:lnTo>
                  <a:pt x="0" y="1256647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true" flipV="true" rot="756995">
            <a:off x="-281317" y="6830471"/>
            <a:ext cx="2086634" cy="4381383"/>
          </a:xfrm>
          <a:custGeom>
            <a:avLst/>
            <a:gdLst/>
            <a:ahLst/>
            <a:cxnLst/>
            <a:rect r="r" b="b" t="t" l="l"/>
            <a:pathLst>
              <a:path h="4381383" w="2086634">
                <a:moveTo>
                  <a:pt x="2086634" y="4381383"/>
                </a:moveTo>
                <a:lnTo>
                  <a:pt x="0" y="4381383"/>
                </a:lnTo>
                <a:lnTo>
                  <a:pt x="0" y="0"/>
                </a:lnTo>
                <a:lnTo>
                  <a:pt x="2086634" y="0"/>
                </a:lnTo>
                <a:lnTo>
                  <a:pt x="2086634" y="4381383"/>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6158752">
            <a:off x="1180596" y="9270397"/>
            <a:ext cx="3578625" cy="1789313"/>
          </a:xfrm>
          <a:custGeom>
            <a:avLst/>
            <a:gdLst/>
            <a:ahLst/>
            <a:cxnLst/>
            <a:rect r="r" b="b" t="t" l="l"/>
            <a:pathLst>
              <a:path h="1789313" w="3578625">
                <a:moveTo>
                  <a:pt x="0" y="0"/>
                </a:moveTo>
                <a:lnTo>
                  <a:pt x="3578626" y="0"/>
                </a:lnTo>
                <a:lnTo>
                  <a:pt x="3578626" y="1789312"/>
                </a:lnTo>
                <a:lnTo>
                  <a:pt x="0" y="1789312"/>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TextBox 17" id="17"/>
          <p:cNvSpPr txBox="true"/>
          <p:nvPr/>
        </p:nvSpPr>
        <p:spPr>
          <a:xfrm rot="-171589">
            <a:off x="5723088" y="2287299"/>
            <a:ext cx="10405903" cy="2932495"/>
          </a:xfrm>
          <a:prstGeom prst="rect">
            <a:avLst/>
          </a:prstGeom>
        </p:spPr>
        <p:txBody>
          <a:bodyPr anchor="t" rtlCol="false" tIns="0" lIns="0" bIns="0" rIns="0">
            <a:spAutoFit/>
          </a:bodyPr>
          <a:lstStyle/>
          <a:p>
            <a:pPr algn="ctr" marL="0" indent="0" lvl="0">
              <a:lnSpc>
                <a:spcPts val="4639"/>
              </a:lnSpc>
              <a:spcBef>
                <a:spcPct val="0"/>
              </a:spcBef>
            </a:pPr>
            <a:r>
              <a:rPr lang="en-US" sz="4295">
                <a:solidFill>
                  <a:srgbClr val="3D3B3B"/>
                </a:solidFill>
                <a:latin typeface="Bobby Jones"/>
                <a:ea typeface="Bobby Jones"/>
                <a:cs typeface="Bobby Jones"/>
                <a:sym typeface="Bobby Jones"/>
              </a:rPr>
              <a:t>Penerapan Metode Jackknife untuk Estimasi yang Lebih Stabil: Analisis Bias dan Variansi dalam Korelasi dan Regresi Linier antara Jumlah Penduduk Miskin dan Jumlah Sekolah di Provinsi Lampung</a:t>
            </a:r>
          </a:p>
        </p:txBody>
      </p:sp>
      <p:sp>
        <p:nvSpPr>
          <p:cNvPr name="TextBox 18" id="18"/>
          <p:cNvSpPr txBox="true"/>
          <p:nvPr/>
        </p:nvSpPr>
        <p:spPr>
          <a:xfrm rot="-191407">
            <a:off x="7828825" y="5696610"/>
            <a:ext cx="6859197" cy="1819910"/>
          </a:xfrm>
          <a:prstGeom prst="rect">
            <a:avLst/>
          </a:prstGeom>
        </p:spPr>
        <p:txBody>
          <a:bodyPr anchor="t" rtlCol="false" tIns="0" lIns="0" bIns="0" rIns="0">
            <a:spAutoFit/>
          </a:bodyPr>
          <a:lstStyle/>
          <a:p>
            <a:pPr algn="ctr">
              <a:lnSpc>
                <a:spcPts val="4809"/>
              </a:lnSpc>
            </a:pPr>
            <a:r>
              <a:rPr lang="en-US" sz="3699" b="true">
                <a:solidFill>
                  <a:srgbClr val="3D3B3B"/>
                </a:solidFill>
                <a:latin typeface="Nunito Sans Condensed Bold"/>
                <a:ea typeface="Nunito Sans Condensed Bold"/>
                <a:cs typeface="Nunito Sans Condensed Bold"/>
                <a:sym typeface="Nunito Sans Condensed Bold"/>
              </a:rPr>
              <a:t>Tugas Besar Komputasi Statistik </a:t>
            </a:r>
          </a:p>
          <a:p>
            <a:pPr algn="ctr">
              <a:lnSpc>
                <a:spcPts val="4809"/>
              </a:lnSpc>
            </a:pPr>
            <a:r>
              <a:rPr lang="en-US" sz="3699" b="true">
                <a:solidFill>
                  <a:srgbClr val="3D3B3B"/>
                </a:solidFill>
                <a:latin typeface="Nunito Sans Condensed Bold"/>
                <a:ea typeface="Nunito Sans Condensed Bold"/>
                <a:cs typeface="Nunito Sans Condensed Bold"/>
                <a:sym typeface="Nunito Sans Condensed Bold"/>
              </a:rPr>
              <a:t>Sains Data ITERA</a:t>
            </a:r>
          </a:p>
          <a:p>
            <a:pPr algn="ctr">
              <a:lnSpc>
                <a:spcPts val="4809"/>
              </a:lnSpc>
            </a:pPr>
            <a:r>
              <a:rPr lang="en-US" sz="3699" b="true">
                <a:solidFill>
                  <a:srgbClr val="3D3B3B"/>
                </a:solidFill>
                <a:latin typeface="Nunito Sans Condensed Bold"/>
                <a:ea typeface="Nunito Sans Condensed Bold"/>
                <a:cs typeface="Nunito Sans Condensed Bold"/>
                <a:sym typeface="Nunito Sans Condensed Bold"/>
              </a:rPr>
              <a:t>Kelompok 05 RA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247062">
            <a:off x="-2566008" y="-3577087"/>
            <a:ext cx="21443697" cy="7960973"/>
          </a:xfrm>
          <a:custGeom>
            <a:avLst/>
            <a:gdLst/>
            <a:ahLst/>
            <a:cxnLst/>
            <a:rect r="r" b="b" t="t" l="l"/>
            <a:pathLst>
              <a:path h="7960973" w="21443697">
                <a:moveTo>
                  <a:pt x="0" y="0"/>
                </a:moveTo>
                <a:lnTo>
                  <a:pt x="21443697" y="0"/>
                </a:lnTo>
                <a:lnTo>
                  <a:pt x="21443697" y="7960973"/>
                </a:lnTo>
                <a:lnTo>
                  <a:pt x="0" y="7960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104900" y="888159"/>
            <a:ext cx="16230600" cy="8663083"/>
            <a:chOff x="0" y="0"/>
            <a:chExt cx="21640800" cy="11550777"/>
          </a:xfrm>
        </p:grpSpPr>
        <p:sp>
          <p:nvSpPr>
            <p:cNvPr name="Freeform 4" id="4"/>
            <p:cNvSpPr/>
            <p:nvPr/>
          </p:nvSpPr>
          <p:spPr>
            <a:xfrm flipH="false" flipV="false" rot="0">
              <a:off x="0" y="0"/>
              <a:ext cx="21640800" cy="11550777"/>
            </a:xfrm>
            <a:custGeom>
              <a:avLst/>
              <a:gdLst/>
              <a:ahLst/>
              <a:cxnLst/>
              <a:rect r="r" b="b" t="t" l="l"/>
              <a:pathLst>
                <a:path h="11550777" w="21640800">
                  <a:moveTo>
                    <a:pt x="0" y="0"/>
                  </a:moveTo>
                  <a:lnTo>
                    <a:pt x="21640800" y="0"/>
                  </a:lnTo>
                  <a:lnTo>
                    <a:pt x="21640800" y="11550777"/>
                  </a:lnTo>
                  <a:lnTo>
                    <a:pt x="0" y="11550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1870263"/>
              <a:ext cx="21539200" cy="9680514"/>
            </a:xfrm>
            <a:custGeom>
              <a:avLst/>
              <a:gdLst/>
              <a:ahLst/>
              <a:cxnLst/>
              <a:rect r="r" b="b" t="t" l="l"/>
              <a:pathLst>
                <a:path h="9680514" w="21539200">
                  <a:moveTo>
                    <a:pt x="0" y="0"/>
                  </a:moveTo>
                  <a:lnTo>
                    <a:pt x="21539200" y="0"/>
                  </a:lnTo>
                  <a:lnTo>
                    <a:pt x="21539200" y="9680514"/>
                  </a:lnTo>
                  <a:lnTo>
                    <a:pt x="0" y="9680514"/>
                  </a:lnTo>
                  <a:lnTo>
                    <a:pt x="0" y="0"/>
                  </a:lnTo>
                  <a:close/>
                </a:path>
              </a:pathLst>
            </a:custGeom>
            <a:blipFill>
              <a:blip r:embed="rId6">
                <a:extLst>
                  <a:ext uri="{96DAC541-7B7A-43D3-8B79-37D633B846F1}">
                    <asvg:svgBlip xmlns:asvg="http://schemas.microsoft.com/office/drawing/2016/SVG/main" r:embed="rId7"/>
                  </a:ext>
                </a:extLst>
              </a:blip>
              <a:stretch>
                <a:fillRect l="0" t="-18759" r="0" b="0"/>
              </a:stretch>
            </a:blipFill>
          </p:spPr>
        </p:sp>
      </p:grpSp>
      <p:sp>
        <p:nvSpPr>
          <p:cNvPr name="TextBox 6" id="6"/>
          <p:cNvSpPr txBox="true"/>
          <p:nvPr/>
        </p:nvSpPr>
        <p:spPr>
          <a:xfrm rot="0">
            <a:off x="2555123" y="7927213"/>
            <a:ext cx="4311398"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Rafi Diva Efangga</a:t>
            </a:r>
          </a:p>
        </p:txBody>
      </p:sp>
      <p:sp>
        <p:nvSpPr>
          <p:cNvPr name="Freeform 7" id="7"/>
          <p:cNvSpPr/>
          <p:nvPr/>
        </p:nvSpPr>
        <p:spPr>
          <a:xfrm flipH="false" flipV="false" rot="5700491">
            <a:off x="14117674" y="5774228"/>
            <a:ext cx="5007159" cy="350501"/>
          </a:xfrm>
          <a:custGeom>
            <a:avLst/>
            <a:gdLst/>
            <a:ahLst/>
            <a:cxnLst/>
            <a:rect r="r" b="b" t="t" l="l"/>
            <a:pathLst>
              <a:path h="350501" w="5007159">
                <a:moveTo>
                  <a:pt x="0" y="0"/>
                </a:moveTo>
                <a:lnTo>
                  <a:pt x="5007158" y="0"/>
                </a:lnTo>
                <a:lnTo>
                  <a:pt x="5007158" y="350501"/>
                </a:lnTo>
                <a:lnTo>
                  <a:pt x="0" y="3505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true" flipV="false" rot="-947664">
            <a:off x="15092609" y="-225111"/>
            <a:ext cx="3356343" cy="4351822"/>
          </a:xfrm>
          <a:custGeom>
            <a:avLst/>
            <a:gdLst/>
            <a:ahLst/>
            <a:cxnLst/>
            <a:rect r="r" b="b" t="t" l="l"/>
            <a:pathLst>
              <a:path h="4351822" w="3356343">
                <a:moveTo>
                  <a:pt x="3356343" y="0"/>
                </a:moveTo>
                <a:lnTo>
                  <a:pt x="0" y="0"/>
                </a:lnTo>
                <a:lnTo>
                  <a:pt x="0" y="4351822"/>
                </a:lnTo>
                <a:lnTo>
                  <a:pt x="3356343" y="4351822"/>
                </a:lnTo>
                <a:lnTo>
                  <a:pt x="3356343"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5109717">
            <a:off x="-656662" y="5774108"/>
            <a:ext cx="5007159" cy="350501"/>
          </a:xfrm>
          <a:custGeom>
            <a:avLst/>
            <a:gdLst/>
            <a:ahLst/>
            <a:cxnLst/>
            <a:rect r="r" b="b" t="t" l="l"/>
            <a:pathLst>
              <a:path h="350501" w="5007159">
                <a:moveTo>
                  <a:pt x="0" y="0"/>
                </a:moveTo>
                <a:lnTo>
                  <a:pt x="5007158" y="0"/>
                </a:lnTo>
                <a:lnTo>
                  <a:pt x="5007158" y="350501"/>
                </a:lnTo>
                <a:lnTo>
                  <a:pt x="0" y="3505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0" id="10"/>
          <p:cNvSpPr txBox="true"/>
          <p:nvPr/>
        </p:nvSpPr>
        <p:spPr>
          <a:xfrm rot="0">
            <a:off x="6996199" y="2201346"/>
            <a:ext cx="4295601" cy="843280"/>
          </a:xfrm>
          <a:prstGeom prst="rect">
            <a:avLst/>
          </a:prstGeom>
        </p:spPr>
        <p:txBody>
          <a:bodyPr anchor="t" rtlCol="false" tIns="0" lIns="0" bIns="0" rIns="0">
            <a:spAutoFit/>
          </a:bodyPr>
          <a:lstStyle/>
          <a:p>
            <a:pPr algn="l" marL="0" indent="0" lvl="0">
              <a:lnSpc>
                <a:spcPts val="6200"/>
              </a:lnSpc>
            </a:pPr>
            <a:r>
              <a:rPr lang="en-US" sz="6200">
                <a:solidFill>
                  <a:srgbClr val="3D3B3B"/>
                </a:solidFill>
                <a:latin typeface="Bobby Jones"/>
                <a:ea typeface="Bobby Jones"/>
                <a:cs typeface="Bobby Jones"/>
                <a:sym typeface="Bobby Jones"/>
              </a:rPr>
              <a:t>Ayo Kenalan</a:t>
            </a:r>
          </a:p>
        </p:txBody>
      </p:sp>
      <p:sp>
        <p:nvSpPr>
          <p:cNvPr name="TextBox 11" id="11"/>
          <p:cNvSpPr txBox="true"/>
          <p:nvPr/>
        </p:nvSpPr>
        <p:spPr>
          <a:xfrm rot="0">
            <a:off x="3036043" y="8401648"/>
            <a:ext cx="5860678"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123450001</a:t>
            </a:r>
          </a:p>
        </p:txBody>
      </p:sp>
      <p:sp>
        <p:nvSpPr>
          <p:cNvPr name="TextBox 12" id="12"/>
          <p:cNvSpPr txBox="true"/>
          <p:nvPr/>
        </p:nvSpPr>
        <p:spPr>
          <a:xfrm rot="0">
            <a:off x="2668704" y="8765393"/>
            <a:ext cx="2717674" cy="514350"/>
          </a:xfrm>
          <a:prstGeom prst="rect">
            <a:avLst/>
          </a:prstGeom>
        </p:spPr>
        <p:txBody>
          <a:bodyPr anchor="t" rtlCol="false" tIns="0" lIns="0" bIns="0" rIns="0">
            <a:spAutoFit/>
          </a:bodyPr>
          <a:lstStyle/>
          <a:p>
            <a:pPr algn="l">
              <a:lnSpc>
                <a:spcPts val="4200"/>
              </a:lnSpc>
              <a:spcBef>
                <a:spcPct val="0"/>
              </a:spcBef>
            </a:pPr>
            <a:r>
              <a:rPr lang="en-US" sz="3000">
                <a:solidFill>
                  <a:srgbClr val="3D3B3B"/>
                </a:solidFill>
                <a:latin typeface="Nunito Sans Condensed"/>
                <a:ea typeface="Nunito Sans Condensed"/>
                <a:cs typeface="Nunito Sans Condensed"/>
                <a:sym typeface="Nunito Sans Condensed"/>
              </a:rPr>
              <a:t>rafidivaefangga_</a:t>
            </a:r>
          </a:p>
        </p:txBody>
      </p:sp>
      <p:sp>
        <p:nvSpPr>
          <p:cNvPr name="TextBox 13" id="13"/>
          <p:cNvSpPr txBox="true"/>
          <p:nvPr/>
        </p:nvSpPr>
        <p:spPr>
          <a:xfrm rot="0">
            <a:off x="12246448" y="7927213"/>
            <a:ext cx="4311398"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Lidia Natasyah Marpaung</a:t>
            </a:r>
          </a:p>
        </p:txBody>
      </p:sp>
      <p:sp>
        <p:nvSpPr>
          <p:cNvPr name="TextBox 14" id="14"/>
          <p:cNvSpPr txBox="true"/>
          <p:nvPr/>
        </p:nvSpPr>
        <p:spPr>
          <a:xfrm rot="0">
            <a:off x="13275156" y="8401648"/>
            <a:ext cx="5860678"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123450015</a:t>
            </a:r>
          </a:p>
        </p:txBody>
      </p:sp>
      <p:sp>
        <p:nvSpPr>
          <p:cNvPr name="TextBox 15" id="15"/>
          <p:cNvSpPr txBox="true"/>
          <p:nvPr/>
        </p:nvSpPr>
        <p:spPr>
          <a:xfrm rot="0">
            <a:off x="13141806" y="8765393"/>
            <a:ext cx="2170826"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dla_natzzyaa</a:t>
            </a:r>
          </a:p>
        </p:txBody>
      </p:sp>
      <p:grpSp>
        <p:nvGrpSpPr>
          <p:cNvPr name="Group 16" id="16"/>
          <p:cNvGrpSpPr/>
          <p:nvPr/>
        </p:nvGrpSpPr>
        <p:grpSpPr>
          <a:xfrm rot="0">
            <a:off x="2155376" y="2575361"/>
            <a:ext cx="3991981" cy="4841837"/>
            <a:chOff x="0" y="0"/>
            <a:chExt cx="710720" cy="862026"/>
          </a:xfrm>
        </p:grpSpPr>
        <p:sp>
          <p:nvSpPr>
            <p:cNvPr name="Freeform 17" id="17"/>
            <p:cNvSpPr/>
            <p:nvPr/>
          </p:nvSpPr>
          <p:spPr>
            <a:xfrm flipH="false" flipV="false" rot="0">
              <a:off x="0" y="0"/>
              <a:ext cx="710720" cy="862026"/>
            </a:xfrm>
            <a:custGeom>
              <a:avLst/>
              <a:gdLst/>
              <a:ahLst/>
              <a:cxnLst/>
              <a:rect r="r" b="b" t="t" l="l"/>
              <a:pathLst>
                <a:path h="862026" w="710720">
                  <a:moveTo>
                    <a:pt x="0" y="0"/>
                  </a:moveTo>
                  <a:lnTo>
                    <a:pt x="710720" y="0"/>
                  </a:lnTo>
                  <a:lnTo>
                    <a:pt x="710720" y="862026"/>
                  </a:lnTo>
                  <a:lnTo>
                    <a:pt x="0" y="862026"/>
                  </a:lnTo>
                  <a:close/>
                </a:path>
              </a:pathLst>
            </a:custGeom>
            <a:blipFill>
              <a:blip r:embed="rId12"/>
              <a:stretch>
                <a:fillRect l="0" t="-6736" r="0" b="-11046"/>
              </a:stretch>
            </a:blipFill>
            <a:ln cap="sq">
              <a:noFill/>
              <a:prstDash val="solid"/>
              <a:miter/>
            </a:ln>
          </p:spPr>
        </p:sp>
      </p:grpSp>
      <p:grpSp>
        <p:nvGrpSpPr>
          <p:cNvPr name="Group 18" id="18"/>
          <p:cNvGrpSpPr/>
          <p:nvPr/>
        </p:nvGrpSpPr>
        <p:grpSpPr>
          <a:xfrm rot="0">
            <a:off x="12453488" y="2298246"/>
            <a:ext cx="4220456" cy="5118952"/>
            <a:chOff x="0" y="0"/>
            <a:chExt cx="710720" cy="862026"/>
          </a:xfrm>
        </p:grpSpPr>
        <p:sp>
          <p:nvSpPr>
            <p:cNvPr name="Freeform 19" id="19"/>
            <p:cNvSpPr/>
            <p:nvPr/>
          </p:nvSpPr>
          <p:spPr>
            <a:xfrm flipH="false" flipV="false" rot="0">
              <a:off x="0" y="0"/>
              <a:ext cx="710720" cy="862026"/>
            </a:xfrm>
            <a:custGeom>
              <a:avLst/>
              <a:gdLst/>
              <a:ahLst/>
              <a:cxnLst/>
              <a:rect r="r" b="b" t="t" l="l"/>
              <a:pathLst>
                <a:path h="862026" w="710720">
                  <a:moveTo>
                    <a:pt x="0" y="0"/>
                  </a:moveTo>
                  <a:lnTo>
                    <a:pt x="710720" y="0"/>
                  </a:lnTo>
                  <a:lnTo>
                    <a:pt x="710720" y="862026"/>
                  </a:lnTo>
                  <a:lnTo>
                    <a:pt x="0" y="862026"/>
                  </a:lnTo>
                  <a:close/>
                </a:path>
              </a:pathLst>
            </a:custGeom>
            <a:blipFill>
              <a:blip r:embed="rId13"/>
              <a:stretch>
                <a:fillRect l="0" t="-5031" r="0" b="-5031"/>
              </a:stretch>
            </a:blipFill>
            <a:ln cap="sq">
              <a:noFill/>
              <a:prstDash val="solid"/>
              <a:miter/>
            </a:ln>
          </p:spPr>
        </p:sp>
      </p:grpSp>
      <p:sp>
        <p:nvSpPr>
          <p:cNvPr name="TextBox 20" id="20"/>
          <p:cNvSpPr txBox="true"/>
          <p:nvPr/>
        </p:nvSpPr>
        <p:spPr>
          <a:xfrm rot="0">
            <a:off x="8241013" y="3776698"/>
            <a:ext cx="1805974" cy="2914578"/>
          </a:xfrm>
          <a:prstGeom prst="rect">
            <a:avLst/>
          </a:prstGeom>
        </p:spPr>
        <p:txBody>
          <a:bodyPr anchor="t" rtlCol="false" tIns="0" lIns="0" bIns="0" rIns="0">
            <a:spAutoFit/>
          </a:bodyPr>
          <a:lstStyle/>
          <a:p>
            <a:pPr algn="ctr">
              <a:lnSpc>
                <a:spcPts val="11161"/>
              </a:lnSpc>
            </a:pPr>
            <a:r>
              <a:rPr lang="en-US" sz="11161">
                <a:solidFill>
                  <a:srgbClr val="3D3B3B"/>
                </a:solidFill>
                <a:latin typeface="Bobby Jones"/>
                <a:ea typeface="Bobby Jones"/>
                <a:cs typeface="Bobby Jones"/>
                <a:sym typeface="Bobby Jones"/>
              </a:rPr>
              <a:t>05</a:t>
            </a:r>
          </a:p>
          <a:p>
            <a:pPr algn="ctr" marL="0" indent="0" lvl="0">
              <a:lnSpc>
                <a:spcPts val="11161"/>
              </a:lnSpc>
            </a:pPr>
            <a:r>
              <a:rPr lang="en-US" sz="11161">
                <a:solidFill>
                  <a:srgbClr val="3D3B3B"/>
                </a:solidFill>
                <a:latin typeface="Bobby Jones"/>
                <a:ea typeface="Bobby Jones"/>
                <a:cs typeface="Bobby Jones"/>
                <a:sym typeface="Bobby Jones"/>
              </a:rPr>
              <a:t>RA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247062">
            <a:off x="-2566008" y="-3577087"/>
            <a:ext cx="21443697" cy="7960973"/>
          </a:xfrm>
          <a:custGeom>
            <a:avLst/>
            <a:gdLst/>
            <a:ahLst/>
            <a:cxnLst/>
            <a:rect r="r" b="b" t="t" l="l"/>
            <a:pathLst>
              <a:path h="7960973" w="21443697">
                <a:moveTo>
                  <a:pt x="0" y="0"/>
                </a:moveTo>
                <a:lnTo>
                  <a:pt x="21443697" y="0"/>
                </a:lnTo>
                <a:lnTo>
                  <a:pt x="21443697" y="7960973"/>
                </a:lnTo>
                <a:lnTo>
                  <a:pt x="0" y="7960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104900" y="888159"/>
            <a:ext cx="16230600" cy="8663083"/>
            <a:chOff x="0" y="0"/>
            <a:chExt cx="21640800" cy="11550777"/>
          </a:xfrm>
        </p:grpSpPr>
        <p:sp>
          <p:nvSpPr>
            <p:cNvPr name="Freeform 4" id="4"/>
            <p:cNvSpPr/>
            <p:nvPr/>
          </p:nvSpPr>
          <p:spPr>
            <a:xfrm flipH="false" flipV="false" rot="0">
              <a:off x="0" y="0"/>
              <a:ext cx="21640800" cy="11550777"/>
            </a:xfrm>
            <a:custGeom>
              <a:avLst/>
              <a:gdLst/>
              <a:ahLst/>
              <a:cxnLst/>
              <a:rect r="r" b="b" t="t" l="l"/>
              <a:pathLst>
                <a:path h="11550777" w="21640800">
                  <a:moveTo>
                    <a:pt x="0" y="0"/>
                  </a:moveTo>
                  <a:lnTo>
                    <a:pt x="21640800" y="0"/>
                  </a:lnTo>
                  <a:lnTo>
                    <a:pt x="21640800" y="11550777"/>
                  </a:lnTo>
                  <a:lnTo>
                    <a:pt x="0" y="11550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1870263"/>
              <a:ext cx="21539200" cy="9680514"/>
            </a:xfrm>
            <a:custGeom>
              <a:avLst/>
              <a:gdLst/>
              <a:ahLst/>
              <a:cxnLst/>
              <a:rect r="r" b="b" t="t" l="l"/>
              <a:pathLst>
                <a:path h="9680514" w="21539200">
                  <a:moveTo>
                    <a:pt x="0" y="0"/>
                  </a:moveTo>
                  <a:lnTo>
                    <a:pt x="21539200" y="0"/>
                  </a:lnTo>
                  <a:lnTo>
                    <a:pt x="21539200" y="9680514"/>
                  </a:lnTo>
                  <a:lnTo>
                    <a:pt x="0" y="9680514"/>
                  </a:lnTo>
                  <a:lnTo>
                    <a:pt x="0" y="0"/>
                  </a:lnTo>
                  <a:close/>
                </a:path>
              </a:pathLst>
            </a:custGeom>
            <a:blipFill>
              <a:blip r:embed="rId6">
                <a:extLst>
                  <a:ext uri="{96DAC541-7B7A-43D3-8B79-37D633B846F1}">
                    <asvg:svgBlip xmlns:asvg="http://schemas.microsoft.com/office/drawing/2016/SVG/main" r:embed="rId7"/>
                  </a:ext>
                </a:extLst>
              </a:blip>
              <a:stretch>
                <a:fillRect l="0" t="-18759" r="0" b="0"/>
              </a:stretch>
            </a:blipFill>
          </p:spPr>
        </p:sp>
      </p:grpSp>
      <p:sp>
        <p:nvSpPr>
          <p:cNvPr name="TextBox 6" id="6"/>
          <p:cNvSpPr txBox="true"/>
          <p:nvPr/>
        </p:nvSpPr>
        <p:spPr>
          <a:xfrm rot="0">
            <a:off x="2555123" y="7927213"/>
            <a:ext cx="4311398"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Benget SIdabutar</a:t>
            </a:r>
          </a:p>
        </p:txBody>
      </p:sp>
      <p:sp>
        <p:nvSpPr>
          <p:cNvPr name="Freeform 7" id="7"/>
          <p:cNvSpPr/>
          <p:nvPr/>
        </p:nvSpPr>
        <p:spPr>
          <a:xfrm flipH="false" flipV="false" rot="5700491">
            <a:off x="14117674" y="5774228"/>
            <a:ext cx="5007159" cy="350501"/>
          </a:xfrm>
          <a:custGeom>
            <a:avLst/>
            <a:gdLst/>
            <a:ahLst/>
            <a:cxnLst/>
            <a:rect r="r" b="b" t="t" l="l"/>
            <a:pathLst>
              <a:path h="350501" w="5007159">
                <a:moveTo>
                  <a:pt x="0" y="0"/>
                </a:moveTo>
                <a:lnTo>
                  <a:pt x="5007158" y="0"/>
                </a:lnTo>
                <a:lnTo>
                  <a:pt x="5007158" y="350501"/>
                </a:lnTo>
                <a:lnTo>
                  <a:pt x="0" y="3505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true" flipV="false" rot="-947664">
            <a:off x="15092609" y="-225111"/>
            <a:ext cx="3356343" cy="4351822"/>
          </a:xfrm>
          <a:custGeom>
            <a:avLst/>
            <a:gdLst/>
            <a:ahLst/>
            <a:cxnLst/>
            <a:rect r="r" b="b" t="t" l="l"/>
            <a:pathLst>
              <a:path h="4351822" w="3356343">
                <a:moveTo>
                  <a:pt x="3356343" y="0"/>
                </a:moveTo>
                <a:lnTo>
                  <a:pt x="0" y="0"/>
                </a:lnTo>
                <a:lnTo>
                  <a:pt x="0" y="4351822"/>
                </a:lnTo>
                <a:lnTo>
                  <a:pt x="3356343" y="4351822"/>
                </a:lnTo>
                <a:lnTo>
                  <a:pt x="3356343"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5109717">
            <a:off x="-656662" y="5774108"/>
            <a:ext cx="5007159" cy="350501"/>
          </a:xfrm>
          <a:custGeom>
            <a:avLst/>
            <a:gdLst/>
            <a:ahLst/>
            <a:cxnLst/>
            <a:rect r="r" b="b" t="t" l="l"/>
            <a:pathLst>
              <a:path h="350501" w="5007159">
                <a:moveTo>
                  <a:pt x="0" y="0"/>
                </a:moveTo>
                <a:lnTo>
                  <a:pt x="5007158" y="0"/>
                </a:lnTo>
                <a:lnTo>
                  <a:pt x="5007158" y="350501"/>
                </a:lnTo>
                <a:lnTo>
                  <a:pt x="0" y="3505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0" id="10"/>
          <p:cNvSpPr txBox="true"/>
          <p:nvPr/>
        </p:nvSpPr>
        <p:spPr>
          <a:xfrm rot="0">
            <a:off x="6996199" y="2201346"/>
            <a:ext cx="4295601" cy="843280"/>
          </a:xfrm>
          <a:prstGeom prst="rect">
            <a:avLst/>
          </a:prstGeom>
        </p:spPr>
        <p:txBody>
          <a:bodyPr anchor="t" rtlCol="false" tIns="0" lIns="0" bIns="0" rIns="0">
            <a:spAutoFit/>
          </a:bodyPr>
          <a:lstStyle/>
          <a:p>
            <a:pPr algn="l" marL="0" indent="0" lvl="0">
              <a:lnSpc>
                <a:spcPts val="6200"/>
              </a:lnSpc>
            </a:pPr>
            <a:r>
              <a:rPr lang="en-US" sz="6200">
                <a:solidFill>
                  <a:srgbClr val="3D3B3B"/>
                </a:solidFill>
                <a:latin typeface="Bobby Jones"/>
                <a:ea typeface="Bobby Jones"/>
                <a:cs typeface="Bobby Jones"/>
                <a:sym typeface="Bobby Jones"/>
              </a:rPr>
              <a:t>Ayo Kenalan</a:t>
            </a:r>
          </a:p>
        </p:txBody>
      </p:sp>
      <p:sp>
        <p:nvSpPr>
          <p:cNvPr name="TextBox 11" id="11"/>
          <p:cNvSpPr txBox="true"/>
          <p:nvPr/>
        </p:nvSpPr>
        <p:spPr>
          <a:xfrm rot="0">
            <a:off x="3036043" y="8401648"/>
            <a:ext cx="5860678"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123450047</a:t>
            </a:r>
          </a:p>
        </p:txBody>
      </p:sp>
      <p:sp>
        <p:nvSpPr>
          <p:cNvPr name="TextBox 12" id="12"/>
          <p:cNvSpPr txBox="true"/>
          <p:nvPr/>
        </p:nvSpPr>
        <p:spPr>
          <a:xfrm rot="0">
            <a:off x="2926598" y="8765393"/>
            <a:ext cx="2031874" cy="514350"/>
          </a:xfrm>
          <a:prstGeom prst="rect">
            <a:avLst/>
          </a:prstGeom>
        </p:spPr>
        <p:txBody>
          <a:bodyPr anchor="t" rtlCol="false" tIns="0" lIns="0" bIns="0" rIns="0">
            <a:spAutoFit/>
          </a:bodyPr>
          <a:lstStyle/>
          <a:p>
            <a:pPr algn="l">
              <a:lnSpc>
                <a:spcPts val="4200"/>
              </a:lnSpc>
              <a:spcBef>
                <a:spcPct val="0"/>
              </a:spcBef>
            </a:pPr>
            <a:r>
              <a:rPr lang="en-US" sz="3000">
                <a:solidFill>
                  <a:srgbClr val="3D3B3B"/>
                </a:solidFill>
                <a:latin typeface="Nunito Sans Condensed"/>
                <a:ea typeface="Nunito Sans Condensed"/>
                <a:cs typeface="Nunito Sans Condensed"/>
                <a:sym typeface="Nunito Sans Condensed"/>
              </a:rPr>
              <a:t>sidabutar.26</a:t>
            </a:r>
          </a:p>
        </p:txBody>
      </p:sp>
      <p:sp>
        <p:nvSpPr>
          <p:cNvPr name="TextBox 13" id="13"/>
          <p:cNvSpPr txBox="true"/>
          <p:nvPr/>
        </p:nvSpPr>
        <p:spPr>
          <a:xfrm rot="0">
            <a:off x="12246448" y="7927213"/>
            <a:ext cx="4311398"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Haikal Fransisko SImbolon</a:t>
            </a:r>
          </a:p>
        </p:txBody>
      </p:sp>
      <p:sp>
        <p:nvSpPr>
          <p:cNvPr name="TextBox 14" id="14"/>
          <p:cNvSpPr txBox="true"/>
          <p:nvPr/>
        </p:nvSpPr>
        <p:spPr>
          <a:xfrm rot="0">
            <a:off x="13275156" y="8401648"/>
            <a:ext cx="5860678"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123450106</a:t>
            </a:r>
          </a:p>
        </p:txBody>
      </p:sp>
      <p:sp>
        <p:nvSpPr>
          <p:cNvPr name="TextBox 15" id="15"/>
          <p:cNvSpPr txBox="true"/>
          <p:nvPr/>
        </p:nvSpPr>
        <p:spPr>
          <a:xfrm rot="0">
            <a:off x="13284681" y="8765393"/>
            <a:ext cx="1918163" cy="51435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3D3B3B"/>
                </a:solidFill>
                <a:latin typeface="Nunito Sans Condensed"/>
                <a:ea typeface="Nunito Sans Condensed"/>
                <a:cs typeface="Nunito Sans Condensed"/>
                <a:sym typeface="Nunito Sans Condensed"/>
              </a:rPr>
              <a:t>haikalsbln_</a:t>
            </a:r>
          </a:p>
        </p:txBody>
      </p:sp>
      <p:grpSp>
        <p:nvGrpSpPr>
          <p:cNvPr name="Group 16" id="16"/>
          <p:cNvGrpSpPr/>
          <p:nvPr/>
        </p:nvGrpSpPr>
        <p:grpSpPr>
          <a:xfrm rot="0">
            <a:off x="12067712" y="2371086"/>
            <a:ext cx="4160401" cy="5046112"/>
            <a:chOff x="0" y="0"/>
            <a:chExt cx="710720" cy="862026"/>
          </a:xfrm>
        </p:grpSpPr>
        <p:sp>
          <p:nvSpPr>
            <p:cNvPr name="Freeform 17" id="17"/>
            <p:cNvSpPr/>
            <p:nvPr/>
          </p:nvSpPr>
          <p:spPr>
            <a:xfrm flipH="false" flipV="false" rot="0">
              <a:off x="0" y="0"/>
              <a:ext cx="710720" cy="862026"/>
            </a:xfrm>
            <a:custGeom>
              <a:avLst/>
              <a:gdLst/>
              <a:ahLst/>
              <a:cxnLst/>
              <a:rect r="r" b="b" t="t" l="l"/>
              <a:pathLst>
                <a:path h="862026" w="710720">
                  <a:moveTo>
                    <a:pt x="0" y="0"/>
                  </a:moveTo>
                  <a:lnTo>
                    <a:pt x="710720" y="0"/>
                  </a:lnTo>
                  <a:lnTo>
                    <a:pt x="710720" y="862026"/>
                  </a:lnTo>
                  <a:lnTo>
                    <a:pt x="0" y="862026"/>
                  </a:lnTo>
                  <a:close/>
                </a:path>
              </a:pathLst>
            </a:custGeom>
            <a:blipFill>
              <a:blip r:embed="rId12"/>
              <a:stretch>
                <a:fillRect l="-28111" t="-33733" r="-13536" b="-41763"/>
              </a:stretch>
            </a:blipFill>
            <a:ln cap="sq">
              <a:noFill/>
              <a:prstDash val="solid"/>
              <a:miter/>
            </a:ln>
          </p:spPr>
        </p:sp>
      </p:grpSp>
      <p:grpSp>
        <p:nvGrpSpPr>
          <p:cNvPr name="Group 18" id="18"/>
          <p:cNvGrpSpPr/>
          <p:nvPr/>
        </p:nvGrpSpPr>
        <p:grpSpPr>
          <a:xfrm rot="0">
            <a:off x="2232693" y="2575361"/>
            <a:ext cx="3991981" cy="4841837"/>
            <a:chOff x="0" y="0"/>
            <a:chExt cx="710720" cy="862026"/>
          </a:xfrm>
        </p:grpSpPr>
        <p:sp>
          <p:nvSpPr>
            <p:cNvPr name="Freeform 19" id="19"/>
            <p:cNvSpPr/>
            <p:nvPr/>
          </p:nvSpPr>
          <p:spPr>
            <a:xfrm flipH="false" flipV="false" rot="0">
              <a:off x="0" y="0"/>
              <a:ext cx="710720" cy="862026"/>
            </a:xfrm>
            <a:custGeom>
              <a:avLst/>
              <a:gdLst/>
              <a:ahLst/>
              <a:cxnLst/>
              <a:rect r="r" b="b" t="t" l="l"/>
              <a:pathLst>
                <a:path h="862026" w="710720">
                  <a:moveTo>
                    <a:pt x="0" y="0"/>
                  </a:moveTo>
                  <a:lnTo>
                    <a:pt x="710720" y="0"/>
                  </a:lnTo>
                  <a:lnTo>
                    <a:pt x="710720" y="862026"/>
                  </a:lnTo>
                  <a:lnTo>
                    <a:pt x="0" y="862026"/>
                  </a:lnTo>
                  <a:close/>
                </a:path>
              </a:pathLst>
            </a:custGeom>
            <a:blipFill>
              <a:blip r:embed="rId13"/>
              <a:stretch>
                <a:fillRect l="-8650" t="-15559" r="-14672" b="-17588"/>
              </a:stretch>
            </a:blipFill>
            <a:ln cap="sq">
              <a:noFill/>
              <a:prstDash val="solid"/>
              <a:miter/>
            </a:ln>
          </p:spPr>
        </p:sp>
      </p:grpSp>
      <p:sp>
        <p:nvSpPr>
          <p:cNvPr name="TextBox 20" id="20"/>
          <p:cNvSpPr txBox="true"/>
          <p:nvPr/>
        </p:nvSpPr>
        <p:spPr>
          <a:xfrm rot="0">
            <a:off x="8241013" y="3776698"/>
            <a:ext cx="1805974" cy="2914578"/>
          </a:xfrm>
          <a:prstGeom prst="rect">
            <a:avLst/>
          </a:prstGeom>
        </p:spPr>
        <p:txBody>
          <a:bodyPr anchor="t" rtlCol="false" tIns="0" lIns="0" bIns="0" rIns="0">
            <a:spAutoFit/>
          </a:bodyPr>
          <a:lstStyle/>
          <a:p>
            <a:pPr algn="ctr">
              <a:lnSpc>
                <a:spcPts val="11161"/>
              </a:lnSpc>
            </a:pPr>
            <a:r>
              <a:rPr lang="en-US" sz="11161">
                <a:solidFill>
                  <a:srgbClr val="3D3B3B"/>
                </a:solidFill>
                <a:latin typeface="Bobby Jones"/>
                <a:ea typeface="Bobby Jones"/>
                <a:cs typeface="Bobby Jones"/>
                <a:sym typeface="Bobby Jones"/>
              </a:rPr>
              <a:t>05</a:t>
            </a:r>
          </a:p>
          <a:p>
            <a:pPr algn="ctr" marL="0" indent="0" lvl="0">
              <a:lnSpc>
                <a:spcPts val="11161"/>
              </a:lnSpc>
            </a:pPr>
            <a:r>
              <a:rPr lang="en-US" sz="11161">
                <a:solidFill>
                  <a:srgbClr val="3D3B3B"/>
                </a:solidFill>
                <a:latin typeface="Bobby Jones"/>
                <a:ea typeface="Bobby Jones"/>
                <a:cs typeface="Bobby Jones"/>
                <a:sym typeface="Bobby Jones"/>
              </a:rPr>
              <a:t>RA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6098620">
            <a:off x="-4501567" y="909130"/>
            <a:ext cx="13730925" cy="7054263"/>
          </a:xfrm>
          <a:custGeom>
            <a:avLst/>
            <a:gdLst/>
            <a:ahLst/>
            <a:cxnLst/>
            <a:rect r="r" b="b" t="t" l="l"/>
            <a:pathLst>
              <a:path h="7054263" w="13730925">
                <a:moveTo>
                  <a:pt x="0" y="0"/>
                </a:moveTo>
                <a:lnTo>
                  <a:pt x="13730925" y="0"/>
                </a:lnTo>
                <a:lnTo>
                  <a:pt x="13730925" y="7054263"/>
                </a:lnTo>
                <a:lnTo>
                  <a:pt x="0" y="70542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36020" y="1028700"/>
            <a:ext cx="16215961" cy="8229600"/>
          </a:xfrm>
          <a:custGeom>
            <a:avLst/>
            <a:gdLst/>
            <a:ahLst/>
            <a:cxnLst/>
            <a:rect r="r" b="b" t="t" l="l"/>
            <a:pathLst>
              <a:path h="8229600" w="16215961">
                <a:moveTo>
                  <a:pt x="0" y="0"/>
                </a:moveTo>
                <a:lnTo>
                  <a:pt x="16215960" y="0"/>
                </a:lnTo>
                <a:lnTo>
                  <a:pt x="16215960"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322045" y="3666209"/>
            <a:ext cx="5632142" cy="5005566"/>
          </a:xfrm>
          <a:custGeom>
            <a:avLst/>
            <a:gdLst/>
            <a:ahLst/>
            <a:cxnLst/>
            <a:rect r="r" b="b" t="t" l="l"/>
            <a:pathLst>
              <a:path h="5005566" w="5632142">
                <a:moveTo>
                  <a:pt x="0" y="0"/>
                </a:moveTo>
                <a:lnTo>
                  <a:pt x="5632142" y="0"/>
                </a:lnTo>
                <a:lnTo>
                  <a:pt x="5632142" y="5005566"/>
                </a:lnTo>
                <a:lnTo>
                  <a:pt x="0" y="5005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7039912" y="2398731"/>
            <a:ext cx="8806867" cy="5590973"/>
          </a:xfrm>
          <a:prstGeom prst="rect">
            <a:avLst/>
          </a:prstGeom>
        </p:spPr>
        <p:txBody>
          <a:bodyPr anchor="t" rtlCol="false" tIns="0" lIns="0" bIns="0" rIns="0">
            <a:spAutoFit/>
          </a:bodyPr>
          <a:lstStyle/>
          <a:p>
            <a:pPr algn="just">
              <a:lnSpc>
                <a:spcPts val="3161"/>
              </a:lnSpc>
            </a:pPr>
            <a:r>
              <a:rPr lang="en-US" b="true" sz="2257">
                <a:solidFill>
                  <a:srgbClr val="3D3B3B"/>
                </a:solidFill>
                <a:latin typeface="Nunito Sans Condensed Bold"/>
                <a:ea typeface="Nunito Sans Condensed Bold"/>
                <a:cs typeface="Nunito Sans Condensed Bold"/>
                <a:sym typeface="Nunito Sans Condensed Bold"/>
              </a:rPr>
              <a:t>Penelitian ini berfokus pada evaluasi hubungan antara Jumlah Penduduk Miskin dan Jumlah Sekol</a:t>
            </a:r>
            <a:r>
              <a:rPr lang="en-US" b="true" sz="2257" strike="noStrike" u="none">
                <a:solidFill>
                  <a:srgbClr val="3D3B3B"/>
                </a:solidFill>
                <a:latin typeface="Nunito Sans Condensed Bold"/>
                <a:ea typeface="Nunito Sans Condensed Bold"/>
                <a:cs typeface="Nunito Sans Condensed Bold"/>
                <a:sym typeface="Nunito Sans Condensed Bold"/>
              </a:rPr>
              <a:t>ah di Provinsi Lampung, dengan asumsi bahwa fasilitas pendidikan yang merata adalah kunci pembangunan dan pengentasan kemiskinan. Analisis korelasi dan regresi linier konvensional (OLS) berisiko menghasilkan estimasi yang bias dan tidak akurat, terutama karena data agregat per wilayah (N = 15) sangat rentan terhadap pencilan (outlier) atau ketidakstabilan data. Untuk mengatasi masalah ini, kami menerapkan metode Jackknife Resampling, sebuah teknik statistika komputasi yang bekerja dengan prinsip Leave-One-Out. Metode Jackknife efektif dalam mendeteksi pengaruh data ekstrem, mengoreksi bias estimasi, dan menyediakan Standard Error yang lebih stabil. Dengan demikian, penerapan Jackknife memastikan analisis hubungan antar variabel menjadi lebih robust dan terverifikasi untuk mendukung perencanaan kebijakan daerah yang lebih akurat. </a:t>
            </a:r>
          </a:p>
        </p:txBody>
      </p:sp>
      <p:sp>
        <p:nvSpPr>
          <p:cNvPr name="TextBox 6" id="6"/>
          <p:cNvSpPr txBox="true"/>
          <p:nvPr/>
        </p:nvSpPr>
        <p:spPr>
          <a:xfrm rot="0">
            <a:off x="7039912" y="1448136"/>
            <a:ext cx="5797204" cy="950595"/>
          </a:xfrm>
          <a:prstGeom prst="rect">
            <a:avLst/>
          </a:prstGeom>
        </p:spPr>
        <p:txBody>
          <a:bodyPr anchor="t" rtlCol="false" tIns="0" lIns="0" bIns="0" rIns="0">
            <a:spAutoFit/>
          </a:bodyPr>
          <a:lstStyle/>
          <a:p>
            <a:pPr algn="l" marL="0" indent="0" lvl="0">
              <a:lnSpc>
                <a:spcPts val="7259"/>
              </a:lnSpc>
            </a:pPr>
            <a:r>
              <a:rPr lang="en-US" sz="6599">
                <a:solidFill>
                  <a:srgbClr val="3D3B3B"/>
                </a:solidFill>
                <a:latin typeface="Bobby Jones"/>
                <a:ea typeface="Bobby Jones"/>
                <a:cs typeface="Bobby Jones"/>
                <a:sym typeface="Bobby Jones"/>
              </a:rPr>
              <a:t>Latar belakang</a:t>
            </a:r>
          </a:p>
        </p:txBody>
      </p:sp>
      <p:sp>
        <p:nvSpPr>
          <p:cNvPr name="Freeform 7" id="7"/>
          <p:cNvSpPr/>
          <p:nvPr/>
        </p:nvSpPr>
        <p:spPr>
          <a:xfrm flipH="true" flipV="false" rot="-6187172">
            <a:off x="13958048" y="658705"/>
            <a:ext cx="6040737" cy="739990"/>
          </a:xfrm>
          <a:custGeom>
            <a:avLst/>
            <a:gdLst/>
            <a:ahLst/>
            <a:cxnLst/>
            <a:rect r="r" b="b" t="t" l="l"/>
            <a:pathLst>
              <a:path h="739990" w="6040737">
                <a:moveTo>
                  <a:pt x="6040736" y="0"/>
                </a:moveTo>
                <a:lnTo>
                  <a:pt x="0" y="0"/>
                </a:lnTo>
                <a:lnTo>
                  <a:pt x="0" y="739990"/>
                </a:lnTo>
                <a:lnTo>
                  <a:pt x="6040736" y="739990"/>
                </a:lnTo>
                <a:lnTo>
                  <a:pt x="604073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971835">
            <a:off x="13483593" y="110691"/>
            <a:ext cx="3675470" cy="886707"/>
          </a:xfrm>
          <a:custGeom>
            <a:avLst/>
            <a:gdLst/>
            <a:ahLst/>
            <a:cxnLst/>
            <a:rect r="r" b="b" t="t" l="l"/>
            <a:pathLst>
              <a:path h="886707" w="3675470">
                <a:moveTo>
                  <a:pt x="0" y="0"/>
                </a:moveTo>
                <a:lnTo>
                  <a:pt x="3675470" y="0"/>
                </a:lnTo>
                <a:lnTo>
                  <a:pt x="3675470" y="886707"/>
                </a:lnTo>
                <a:lnTo>
                  <a:pt x="0" y="8867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727633">
            <a:off x="15974686" y="4373757"/>
            <a:ext cx="2007459" cy="2422273"/>
          </a:xfrm>
          <a:custGeom>
            <a:avLst/>
            <a:gdLst/>
            <a:ahLst/>
            <a:cxnLst/>
            <a:rect r="r" b="b" t="t" l="l"/>
            <a:pathLst>
              <a:path h="2422273" w="2007459">
                <a:moveTo>
                  <a:pt x="0" y="0"/>
                </a:moveTo>
                <a:lnTo>
                  <a:pt x="2007459" y="0"/>
                </a:lnTo>
                <a:lnTo>
                  <a:pt x="2007459" y="2422273"/>
                </a:lnTo>
                <a:lnTo>
                  <a:pt x="0" y="242227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727633">
            <a:off x="16363224" y="5119655"/>
            <a:ext cx="1230384" cy="930478"/>
          </a:xfrm>
          <a:custGeom>
            <a:avLst/>
            <a:gdLst/>
            <a:ahLst/>
            <a:cxnLst/>
            <a:rect r="r" b="b" t="t" l="l"/>
            <a:pathLst>
              <a:path h="930478" w="1230384">
                <a:moveTo>
                  <a:pt x="0" y="0"/>
                </a:moveTo>
                <a:lnTo>
                  <a:pt x="1230384" y="0"/>
                </a:lnTo>
                <a:lnTo>
                  <a:pt x="1230384" y="930478"/>
                </a:lnTo>
                <a:lnTo>
                  <a:pt x="0" y="93047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true" flipV="true" rot="-1943004">
            <a:off x="127996" y="6633738"/>
            <a:ext cx="2086634" cy="4381383"/>
          </a:xfrm>
          <a:custGeom>
            <a:avLst/>
            <a:gdLst/>
            <a:ahLst/>
            <a:cxnLst/>
            <a:rect r="r" b="b" t="t" l="l"/>
            <a:pathLst>
              <a:path h="4381383" w="2086634">
                <a:moveTo>
                  <a:pt x="2086634" y="4381382"/>
                </a:moveTo>
                <a:lnTo>
                  <a:pt x="0" y="4381382"/>
                </a:lnTo>
                <a:lnTo>
                  <a:pt x="0" y="0"/>
                </a:lnTo>
                <a:lnTo>
                  <a:pt x="2086634" y="0"/>
                </a:lnTo>
                <a:lnTo>
                  <a:pt x="2086634" y="4381382"/>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75526">
            <a:off x="-455661" y="5507136"/>
            <a:ext cx="19199323" cy="7367740"/>
          </a:xfrm>
          <a:custGeom>
            <a:avLst/>
            <a:gdLst/>
            <a:ahLst/>
            <a:cxnLst/>
            <a:rect r="r" b="b" t="t" l="l"/>
            <a:pathLst>
              <a:path h="7367740" w="19199323">
                <a:moveTo>
                  <a:pt x="0" y="0"/>
                </a:moveTo>
                <a:lnTo>
                  <a:pt x="19199322" y="0"/>
                </a:lnTo>
                <a:lnTo>
                  <a:pt x="19199322" y="7367740"/>
                </a:lnTo>
                <a:lnTo>
                  <a:pt x="0" y="7367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9467521">
            <a:off x="12720953" y="-544068"/>
            <a:ext cx="7315200" cy="3145536"/>
          </a:xfrm>
          <a:custGeom>
            <a:avLst/>
            <a:gdLst/>
            <a:ahLst/>
            <a:cxnLst/>
            <a:rect r="r" b="b" t="t" l="l"/>
            <a:pathLst>
              <a:path h="3145536" w="7315200">
                <a:moveTo>
                  <a:pt x="0" y="0"/>
                </a:moveTo>
                <a:lnTo>
                  <a:pt x="7315200" y="0"/>
                </a:lnTo>
                <a:lnTo>
                  <a:pt x="7315200" y="3145536"/>
                </a:lnTo>
                <a:lnTo>
                  <a:pt x="0" y="31455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4" id="4"/>
          <p:cNvGrpSpPr/>
          <p:nvPr/>
        </p:nvGrpSpPr>
        <p:grpSpPr>
          <a:xfrm rot="0">
            <a:off x="1028700" y="1095994"/>
            <a:ext cx="16230600" cy="8095012"/>
            <a:chOff x="0" y="0"/>
            <a:chExt cx="21640800" cy="10793349"/>
          </a:xfrm>
        </p:grpSpPr>
        <p:sp>
          <p:nvSpPr>
            <p:cNvPr name="Freeform 5" id="5"/>
            <p:cNvSpPr/>
            <p:nvPr/>
          </p:nvSpPr>
          <p:spPr>
            <a:xfrm flipH="false" flipV="false" rot="0">
              <a:off x="0" y="0"/>
              <a:ext cx="21640800" cy="10793349"/>
            </a:xfrm>
            <a:custGeom>
              <a:avLst/>
              <a:gdLst/>
              <a:ahLst/>
              <a:cxnLst/>
              <a:rect r="r" b="b" t="t" l="l"/>
              <a:pathLst>
                <a:path h="10793349" w="21640800">
                  <a:moveTo>
                    <a:pt x="0" y="0"/>
                  </a:moveTo>
                  <a:lnTo>
                    <a:pt x="21640800" y="0"/>
                  </a:lnTo>
                  <a:lnTo>
                    <a:pt x="21640800" y="10793349"/>
                  </a:lnTo>
                  <a:lnTo>
                    <a:pt x="0" y="107933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0"/>
              <a:ext cx="2076994" cy="10793349"/>
            </a:xfrm>
            <a:custGeom>
              <a:avLst/>
              <a:gdLst/>
              <a:ahLst/>
              <a:cxnLst/>
              <a:rect r="r" b="b" t="t" l="l"/>
              <a:pathLst>
                <a:path h="10793349" w="2076994">
                  <a:moveTo>
                    <a:pt x="0" y="0"/>
                  </a:moveTo>
                  <a:lnTo>
                    <a:pt x="2076994" y="0"/>
                  </a:lnTo>
                  <a:lnTo>
                    <a:pt x="2076994" y="10793349"/>
                  </a:lnTo>
                  <a:lnTo>
                    <a:pt x="0" y="10793349"/>
                  </a:lnTo>
                  <a:lnTo>
                    <a:pt x="0" y="0"/>
                  </a:lnTo>
                  <a:close/>
                </a:path>
              </a:pathLst>
            </a:custGeom>
            <a:blipFill>
              <a:blip r:embed="rId8">
                <a:extLst>
                  <a:ext uri="{96DAC541-7B7A-43D3-8B79-37D633B846F1}">
                    <asvg:svgBlip xmlns:asvg="http://schemas.microsoft.com/office/drawing/2016/SVG/main" r:embed="rId9"/>
                  </a:ext>
                </a:extLst>
              </a:blip>
              <a:stretch>
                <a:fillRect l="0" t="0" r="-941928" b="0"/>
              </a:stretch>
            </a:blipFill>
          </p:spPr>
        </p:sp>
      </p:grpSp>
      <p:sp>
        <p:nvSpPr>
          <p:cNvPr name="Freeform 7" id="7"/>
          <p:cNvSpPr/>
          <p:nvPr/>
        </p:nvSpPr>
        <p:spPr>
          <a:xfrm flipH="false" flipV="false" rot="0">
            <a:off x="1641496" y="5278090"/>
            <a:ext cx="719052" cy="630069"/>
          </a:xfrm>
          <a:custGeom>
            <a:avLst/>
            <a:gdLst/>
            <a:ahLst/>
            <a:cxnLst/>
            <a:rect r="r" b="b" t="t" l="l"/>
            <a:pathLst>
              <a:path h="630069" w="719052">
                <a:moveTo>
                  <a:pt x="0" y="0"/>
                </a:moveTo>
                <a:lnTo>
                  <a:pt x="719052" y="0"/>
                </a:lnTo>
                <a:lnTo>
                  <a:pt x="719052" y="630069"/>
                </a:lnTo>
                <a:lnTo>
                  <a:pt x="0" y="630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641496" y="2872710"/>
            <a:ext cx="719052" cy="630069"/>
          </a:xfrm>
          <a:custGeom>
            <a:avLst/>
            <a:gdLst/>
            <a:ahLst/>
            <a:cxnLst/>
            <a:rect r="r" b="b" t="t" l="l"/>
            <a:pathLst>
              <a:path h="630069" w="719052">
                <a:moveTo>
                  <a:pt x="0" y="0"/>
                </a:moveTo>
                <a:lnTo>
                  <a:pt x="719052" y="0"/>
                </a:lnTo>
                <a:lnTo>
                  <a:pt x="719052" y="630070"/>
                </a:lnTo>
                <a:lnTo>
                  <a:pt x="0" y="6300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360548" y="2815560"/>
            <a:ext cx="6783452" cy="24625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3D3B3B"/>
                </a:solidFill>
                <a:latin typeface="Nunito Sans Condensed"/>
                <a:ea typeface="Nunito Sans Condensed"/>
                <a:cs typeface="Nunito Sans Condensed"/>
                <a:sym typeface="Nunito Sans Condensed"/>
              </a:rPr>
              <a:t>B</a:t>
            </a:r>
            <a:r>
              <a:rPr lang="en-US" sz="2800" strike="noStrike" u="none">
                <a:solidFill>
                  <a:srgbClr val="3D3B3B"/>
                </a:solidFill>
                <a:latin typeface="Nunito Sans Condensed"/>
                <a:ea typeface="Nunito Sans Condensed"/>
                <a:cs typeface="Nunito Sans Condensed"/>
                <a:sym typeface="Nunito Sans Condensed"/>
              </a:rPr>
              <a:t>agaimana penerapan metode Jackknife dalam mengestimasi parameter korelasi dan regresi linier pada data jumlah penduduk miskin dan jumlah sekolah di Provinsi Lampung?</a:t>
            </a:r>
          </a:p>
        </p:txBody>
      </p:sp>
      <p:sp>
        <p:nvSpPr>
          <p:cNvPr name="TextBox 10" id="10"/>
          <p:cNvSpPr txBox="true"/>
          <p:nvPr/>
        </p:nvSpPr>
        <p:spPr>
          <a:xfrm rot="0">
            <a:off x="2360548" y="1641459"/>
            <a:ext cx="5643896" cy="801495"/>
          </a:xfrm>
          <a:prstGeom prst="rect">
            <a:avLst/>
          </a:prstGeom>
        </p:spPr>
        <p:txBody>
          <a:bodyPr anchor="t" rtlCol="false" tIns="0" lIns="0" bIns="0" rIns="0">
            <a:spAutoFit/>
          </a:bodyPr>
          <a:lstStyle/>
          <a:p>
            <a:pPr algn="l" marL="0" indent="0" lvl="0">
              <a:lnSpc>
                <a:spcPts val="6088"/>
              </a:lnSpc>
              <a:spcBef>
                <a:spcPct val="0"/>
              </a:spcBef>
            </a:pPr>
            <a:r>
              <a:rPr lang="en-US" sz="5637">
                <a:solidFill>
                  <a:srgbClr val="3D3B3B"/>
                </a:solidFill>
                <a:latin typeface="Bobby Jones"/>
                <a:ea typeface="Bobby Jones"/>
                <a:cs typeface="Bobby Jones"/>
                <a:sym typeface="Bobby Jones"/>
              </a:rPr>
              <a:t>rumusan masalah</a:t>
            </a:r>
          </a:p>
        </p:txBody>
      </p:sp>
      <p:sp>
        <p:nvSpPr>
          <p:cNvPr name="TextBox 11" id="11"/>
          <p:cNvSpPr txBox="true"/>
          <p:nvPr/>
        </p:nvSpPr>
        <p:spPr>
          <a:xfrm rot="0">
            <a:off x="2360548" y="7150070"/>
            <a:ext cx="6783452" cy="19672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3D3B3B"/>
                </a:solidFill>
                <a:latin typeface="Nunito Sans Condensed"/>
                <a:ea typeface="Nunito Sans Condensed"/>
                <a:cs typeface="Nunito Sans Condensed"/>
                <a:sym typeface="Nunito Sans Condensed"/>
              </a:rPr>
              <a:t>Bagaimana perbandingan efisiensi antara metode konvensional dan metode Jackknife dilihat dari nilai Standard Error (SE) dan interval kepercayaannya?</a:t>
            </a:r>
          </a:p>
        </p:txBody>
      </p:sp>
      <p:sp>
        <p:nvSpPr>
          <p:cNvPr name="Freeform 12" id="12"/>
          <p:cNvSpPr/>
          <p:nvPr/>
        </p:nvSpPr>
        <p:spPr>
          <a:xfrm flipH="false" flipV="false" rot="0">
            <a:off x="1641496" y="7207220"/>
            <a:ext cx="719052" cy="630069"/>
          </a:xfrm>
          <a:custGeom>
            <a:avLst/>
            <a:gdLst/>
            <a:ahLst/>
            <a:cxnLst/>
            <a:rect r="r" b="b" t="t" l="l"/>
            <a:pathLst>
              <a:path h="630069" w="719052">
                <a:moveTo>
                  <a:pt x="0" y="0"/>
                </a:moveTo>
                <a:lnTo>
                  <a:pt x="719052" y="0"/>
                </a:lnTo>
                <a:lnTo>
                  <a:pt x="719052" y="630069"/>
                </a:lnTo>
                <a:lnTo>
                  <a:pt x="0" y="630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9189739">
            <a:off x="15689519" y="570163"/>
            <a:ext cx="1685431" cy="1842001"/>
          </a:xfrm>
          <a:custGeom>
            <a:avLst/>
            <a:gdLst/>
            <a:ahLst/>
            <a:cxnLst/>
            <a:rect r="r" b="b" t="t" l="l"/>
            <a:pathLst>
              <a:path h="1842001" w="1685431">
                <a:moveTo>
                  <a:pt x="0" y="0"/>
                </a:moveTo>
                <a:lnTo>
                  <a:pt x="1685431" y="0"/>
                </a:lnTo>
                <a:lnTo>
                  <a:pt x="1685431" y="1842001"/>
                </a:lnTo>
                <a:lnTo>
                  <a:pt x="0" y="1842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4" id="14"/>
          <p:cNvSpPr/>
          <p:nvPr/>
        </p:nvSpPr>
        <p:spPr>
          <a:xfrm flipH="false" flipV="false" rot="906591">
            <a:off x="16170324" y="7954471"/>
            <a:ext cx="1562021" cy="4998468"/>
          </a:xfrm>
          <a:custGeom>
            <a:avLst/>
            <a:gdLst/>
            <a:ahLst/>
            <a:cxnLst/>
            <a:rect r="r" b="b" t="t" l="l"/>
            <a:pathLst>
              <a:path h="4998468" w="1562021">
                <a:moveTo>
                  <a:pt x="0" y="0"/>
                </a:moveTo>
                <a:lnTo>
                  <a:pt x="1562021" y="0"/>
                </a:lnTo>
                <a:lnTo>
                  <a:pt x="1562021" y="4998468"/>
                </a:lnTo>
                <a:lnTo>
                  <a:pt x="0" y="499846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5" id="15"/>
          <p:cNvSpPr/>
          <p:nvPr/>
        </p:nvSpPr>
        <p:spPr>
          <a:xfrm flipH="false" flipV="false" rot="955766">
            <a:off x="-174087" y="-127122"/>
            <a:ext cx="2460566" cy="2969009"/>
          </a:xfrm>
          <a:custGeom>
            <a:avLst/>
            <a:gdLst/>
            <a:ahLst/>
            <a:cxnLst/>
            <a:rect r="r" b="b" t="t" l="l"/>
            <a:pathLst>
              <a:path h="2969009" w="2460566">
                <a:moveTo>
                  <a:pt x="0" y="0"/>
                </a:moveTo>
                <a:lnTo>
                  <a:pt x="2460566" y="0"/>
                </a:lnTo>
                <a:lnTo>
                  <a:pt x="2460566" y="2969009"/>
                </a:lnTo>
                <a:lnTo>
                  <a:pt x="0" y="296900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955766">
            <a:off x="302148" y="787134"/>
            <a:ext cx="1508096" cy="1140498"/>
          </a:xfrm>
          <a:custGeom>
            <a:avLst/>
            <a:gdLst/>
            <a:ahLst/>
            <a:cxnLst/>
            <a:rect r="r" b="b" t="t" l="l"/>
            <a:pathLst>
              <a:path h="1140498" w="1508096">
                <a:moveTo>
                  <a:pt x="0" y="0"/>
                </a:moveTo>
                <a:lnTo>
                  <a:pt x="1508096" y="0"/>
                </a:lnTo>
                <a:lnTo>
                  <a:pt x="1508096" y="1140497"/>
                </a:lnTo>
                <a:lnTo>
                  <a:pt x="0" y="114049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7" id="17"/>
          <p:cNvSpPr txBox="true"/>
          <p:nvPr/>
        </p:nvSpPr>
        <p:spPr>
          <a:xfrm rot="0">
            <a:off x="2360548" y="5230465"/>
            <a:ext cx="7195717" cy="19672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3D3B3B"/>
                </a:solidFill>
                <a:latin typeface="Nunito Sans Condensed"/>
                <a:ea typeface="Nunito Sans Condensed"/>
                <a:cs typeface="Nunito Sans Condensed"/>
                <a:sym typeface="Nunito Sans Condensed"/>
              </a:rPr>
              <a:t>Seber</a:t>
            </a:r>
            <a:r>
              <a:rPr lang="en-US" sz="2800" strike="noStrike" u="none">
                <a:solidFill>
                  <a:srgbClr val="3D3B3B"/>
                </a:solidFill>
                <a:latin typeface="Nunito Sans Condensed"/>
                <a:ea typeface="Nunito Sans Condensed"/>
                <a:cs typeface="Nunito Sans Condensed"/>
                <a:sym typeface="Nunito Sans Condensed"/>
              </a:rPr>
              <a:t>apa besar bias yang terkandung dalam estimasi parameter jika hanya menggunakan metode konvensional dibandingkan dengan hasil koreksi metode Jackknife?</a:t>
            </a:r>
          </a:p>
        </p:txBody>
      </p:sp>
      <p:sp>
        <p:nvSpPr>
          <p:cNvPr name="TextBox 18" id="18"/>
          <p:cNvSpPr txBox="true"/>
          <p:nvPr/>
        </p:nvSpPr>
        <p:spPr>
          <a:xfrm rot="0">
            <a:off x="2360548" y="2385804"/>
            <a:ext cx="5897116" cy="481330"/>
          </a:xfrm>
          <a:prstGeom prst="rect">
            <a:avLst/>
          </a:prstGeom>
        </p:spPr>
        <p:txBody>
          <a:bodyPr anchor="t" rtlCol="false" tIns="0" lIns="0" bIns="0" rIns="0">
            <a:spAutoFit/>
          </a:bodyPr>
          <a:lstStyle/>
          <a:p>
            <a:pPr algn="l">
              <a:lnSpc>
                <a:spcPts val="3920"/>
              </a:lnSpc>
            </a:pPr>
            <a:r>
              <a:rPr lang="en-US" sz="2800">
                <a:solidFill>
                  <a:srgbClr val="3D3B3B"/>
                </a:solidFill>
                <a:latin typeface="Nunito Sans Condensed"/>
                <a:ea typeface="Nunito Sans Condensed"/>
                <a:cs typeface="Nunito Sans Condensed"/>
                <a:sym typeface="Nunito Sans Condensed"/>
              </a:rPr>
              <a:t>D</a:t>
            </a:r>
            <a:r>
              <a:rPr lang="en-US" sz="2800" strike="noStrike" u="none">
                <a:solidFill>
                  <a:srgbClr val="3D3B3B"/>
                </a:solidFill>
                <a:latin typeface="Nunito Sans Condensed"/>
                <a:ea typeface="Nunito Sans Condensed"/>
                <a:cs typeface="Nunito Sans Condensed"/>
                <a:sym typeface="Nunito Sans Condensed"/>
              </a:rPr>
              <a:t>irumuskan dalam pertanyaan berikut:</a:t>
            </a:r>
          </a:p>
        </p:txBody>
      </p:sp>
      <p:sp>
        <p:nvSpPr>
          <p:cNvPr name="TextBox 19" id="19"/>
          <p:cNvSpPr txBox="true"/>
          <p:nvPr/>
        </p:nvSpPr>
        <p:spPr>
          <a:xfrm rot="0">
            <a:off x="10275317" y="1641459"/>
            <a:ext cx="5643896" cy="801495"/>
          </a:xfrm>
          <a:prstGeom prst="rect">
            <a:avLst/>
          </a:prstGeom>
        </p:spPr>
        <p:txBody>
          <a:bodyPr anchor="t" rtlCol="false" tIns="0" lIns="0" bIns="0" rIns="0">
            <a:spAutoFit/>
          </a:bodyPr>
          <a:lstStyle/>
          <a:p>
            <a:pPr algn="l" marL="0" indent="0" lvl="0">
              <a:lnSpc>
                <a:spcPts val="6088"/>
              </a:lnSpc>
              <a:spcBef>
                <a:spcPct val="0"/>
              </a:spcBef>
            </a:pPr>
            <a:r>
              <a:rPr lang="en-US" sz="5637">
                <a:solidFill>
                  <a:srgbClr val="3D3B3B"/>
                </a:solidFill>
                <a:latin typeface="Bobby Jones"/>
                <a:ea typeface="Bobby Jones"/>
                <a:cs typeface="Bobby Jones"/>
                <a:sym typeface="Bobby Jones"/>
              </a:rPr>
              <a:t>Tujuan penelitian</a:t>
            </a:r>
          </a:p>
        </p:txBody>
      </p:sp>
      <p:sp>
        <p:nvSpPr>
          <p:cNvPr name="TextBox 20" id="20"/>
          <p:cNvSpPr txBox="true"/>
          <p:nvPr/>
        </p:nvSpPr>
        <p:spPr>
          <a:xfrm rot="0">
            <a:off x="10275317" y="2385804"/>
            <a:ext cx="4489421" cy="481330"/>
          </a:xfrm>
          <a:prstGeom prst="rect">
            <a:avLst/>
          </a:prstGeom>
        </p:spPr>
        <p:txBody>
          <a:bodyPr anchor="t" rtlCol="false" tIns="0" lIns="0" bIns="0" rIns="0">
            <a:spAutoFit/>
          </a:bodyPr>
          <a:lstStyle/>
          <a:p>
            <a:pPr algn="l">
              <a:lnSpc>
                <a:spcPts val="3920"/>
              </a:lnSpc>
            </a:pPr>
            <a:r>
              <a:rPr lang="en-US" sz="2800">
                <a:solidFill>
                  <a:srgbClr val="3D3B3B"/>
                </a:solidFill>
                <a:latin typeface="Nunito Sans Condensed"/>
                <a:ea typeface="Nunito Sans Condensed"/>
                <a:cs typeface="Nunito Sans Condensed"/>
                <a:sym typeface="Nunito Sans Condensed"/>
              </a:rPr>
              <a:t>P</a:t>
            </a:r>
            <a:r>
              <a:rPr lang="en-US" sz="2800" strike="noStrike" u="none">
                <a:solidFill>
                  <a:srgbClr val="3D3B3B"/>
                </a:solidFill>
                <a:latin typeface="Nunito Sans Condensed"/>
                <a:ea typeface="Nunito Sans Condensed"/>
                <a:cs typeface="Nunito Sans Condensed"/>
                <a:sym typeface="Nunito Sans Condensed"/>
              </a:rPr>
              <a:t>enelitian ini bertujuan untuk:</a:t>
            </a:r>
          </a:p>
        </p:txBody>
      </p:sp>
      <p:sp>
        <p:nvSpPr>
          <p:cNvPr name="Freeform 21" id="21"/>
          <p:cNvSpPr/>
          <p:nvPr/>
        </p:nvSpPr>
        <p:spPr>
          <a:xfrm flipH="false" flipV="false" rot="0">
            <a:off x="9556265" y="2872710"/>
            <a:ext cx="719052" cy="630069"/>
          </a:xfrm>
          <a:custGeom>
            <a:avLst/>
            <a:gdLst/>
            <a:ahLst/>
            <a:cxnLst/>
            <a:rect r="r" b="b" t="t" l="l"/>
            <a:pathLst>
              <a:path h="630069" w="719052">
                <a:moveTo>
                  <a:pt x="0" y="0"/>
                </a:moveTo>
                <a:lnTo>
                  <a:pt x="719052" y="0"/>
                </a:lnTo>
                <a:lnTo>
                  <a:pt x="719052" y="630070"/>
                </a:lnTo>
                <a:lnTo>
                  <a:pt x="0" y="6300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10275317" y="2809984"/>
            <a:ext cx="6676018" cy="19672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3D3B3B"/>
                </a:solidFill>
                <a:latin typeface="Nunito Sans Condensed"/>
                <a:ea typeface="Nunito Sans Condensed"/>
                <a:cs typeface="Nunito Sans Condensed"/>
                <a:sym typeface="Nunito Sans Condensed"/>
              </a:rPr>
              <a:t>Men</a:t>
            </a:r>
            <a:r>
              <a:rPr lang="en-US" sz="2800" strike="noStrike" u="none">
                <a:solidFill>
                  <a:srgbClr val="3D3B3B"/>
                </a:solidFill>
                <a:latin typeface="Nunito Sans Condensed"/>
                <a:ea typeface="Nunito Sans Condensed"/>
                <a:cs typeface="Nunito Sans Condensed"/>
                <a:sym typeface="Nunito Sans Condensed"/>
              </a:rPr>
              <a:t>gaplikasikan algoritma resampling Jackknife untuk mendapatkan estimasi parameter korelasi Pearson dan koefisien regresi yang lebih stabil.</a:t>
            </a:r>
          </a:p>
        </p:txBody>
      </p:sp>
      <p:sp>
        <p:nvSpPr>
          <p:cNvPr name="Freeform 23" id="23"/>
          <p:cNvSpPr/>
          <p:nvPr/>
        </p:nvSpPr>
        <p:spPr>
          <a:xfrm flipH="false" flipV="false" rot="0">
            <a:off x="9556265" y="4801840"/>
            <a:ext cx="719052" cy="630069"/>
          </a:xfrm>
          <a:custGeom>
            <a:avLst/>
            <a:gdLst/>
            <a:ahLst/>
            <a:cxnLst/>
            <a:rect r="r" b="b" t="t" l="l"/>
            <a:pathLst>
              <a:path h="630069" w="719052">
                <a:moveTo>
                  <a:pt x="0" y="0"/>
                </a:moveTo>
                <a:lnTo>
                  <a:pt x="719052" y="0"/>
                </a:lnTo>
                <a:lnTo>
                  <a:pt x="719052" y="630069"/>
                </a:lnTo>
                <a:lnTo>
                  <a:pt x="0" y="630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4" id="24"/>
          <p:cNvSpPr txBox="true"/>
          <p:nvPr/>
        </p:nvSpPr>
        <p:spPr>
          <a:xfrm rot="0">
            <a:off x="10275317" y="4744690"/>
            <a:ext cx="7114963" cy="19672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3D3B3B"/>
                </a:solidFill>
                <a:latin typeface="Nunito Sans Condensed"/>
                <a:ea typeface="Nunito Sans Condensed"/>
                <a:cs typeface="Nunito Sans Condensed"/>
                <a:sym typeface="Nunito Sans Condensed"/>
              </a:rPr>
              <a:t>M</a:t>
            </a:r>
            <a:r>
              <a:rPr lang="en-US" sz="2799" strike="noStrike" u="none">
                <a:solidFill>
                  <a:srgbClr val="3D3B3B"/>
                </a:solidFill>
                <a:latin typeface="Nunito Sans Condensed"/>
                <a:ea typeface="Nunito Sans Condensed"/>
                <a:cs typeface="Nunito Sans Condensed"/>
                <a:sym typeface="Nunito Sans Condensed"/>
              </a:rPr>
              <a:t>enghitung nilai bias estimasi untuk mengetahui apakah metode konvensional cenderung overestimate atau underestimate terhadap hubungan data yang sebenarnya.</a:t>
            </a:r>
          </a:p>
        </p:txBody>
      </p:sp>
      <p:sp>
        <p:nvSpPr>
          <p:cNvPr name="TextBox 25" id="25"/>
          <p:cNvSpPr txBox="true"/>
          <p:nvPr/>
        </p:nvSpPr>
        <p:spPr>
          <a:xfrm rot="0">
            <a:off x="10275317" y="6728476"/>
            <a:ext cx="6669180" cy="24625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3D3B3B"/>
                </a:solidFill>
                <a:latin typeface="Nunito Sans Condensed"/>
                <a:ea typeface="Nunito Sans Condensed"/>
                <a:cs typeface="Nunito Sans Condensed"/>
                <a:sym typeface="Nunito Sans Condensed"/>
              </a:rPr>
              <a:t>Mengevaluasi akurasi model dengan membandingkan Standard Error dan lebar selang kepercayaan (Confidence Interval) antara metode OLS biasa dengan metode Jackknife.</a:t>
            </a:r>
          </a:p>
        </p:txBody>
      </p:sp>
      <p:sp>
        <p:nvSpPr>
          <p:cNvPr name="Freeform 26" id="26"/>
          <p:cNvSpPr/>
          <p:nvPr/>
        </p:nvSpPr>
        <p:spPr>
          <a:xfrm flipH="false" flipV="false" rot="0">
            <a:off x="9556265" y="7207220"/>
            <a:ext cx="719052" cy="630069"/>
          </a:xfrm>
          <a:custGeom>
            <a:avLst/>
            <a:gdLst/>
            <a:ahLst/>
            <a:cxnLst/>
            <a:rect r="r" b="b" t="t" l="l"/>
            <a:pathLst>
              <a:path h="630069" w="719052">
                <a:moveTo>
                  <a:pt x="0" y="0"/>
                </a:moveTo>
                <a:lnTo>
                  <a:pt x="719052" y="0"/>
                </a:lnTo>
                <a:lnTo>
                  <a:pt x="719052" y="630069"/>
                </a:lnTo>
                <a:lnTo>
                  <a:pt x="0" y="630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2598527">
            <a:off x="12683312" y="-1813293"/>
            <a:ext cx="8726876" cy="5438929"/>
          </a:xfrm>
          <a:custGeom>
            <a:avLst/>
            <a:gdLst/>
            <a:ahLst/>
            <a:cxnLst/>
            <a:rect r="r" b="b" t="t" l="l"/>
            <a:pathLst>
              <a:path h="5438929" w="8726876">
                <a:moveTo>
                  <a:pt x="0" y="0"/>
                </a:moveTo>
                <a:lnTo>
                  <a:pt x="8726876" y="0"/>
                </a:lnTo>
                <a:lnTo>
                  <a:pt x="8726876" y="5438929"/>
                </a:lnTo>
                <a:lnTo>
                  <a:pt x="0" y="5438929"/>
                </a:lnTo>
                <a:lnTo>
                  <a:pt x="0" y="0"/>
                </a:lnTo>
                <a:close/>
              </a:path>
            </a:pathLst>
          </a:custGeom>
          <a:blipFill>
            <a:blip r:embed="rId2">
              <a:extLst>
                <a:ext uri="{96DAC541-7B7A-43D3-8B79-37D633B846F1}">
                  <asvg:svgBlip xmlns:asvg="http://schemas.microsoft.com/office/drawing/2016/SVG/main" r:embed="rId3"/>
                </a:ext>
              </a:extLst>
            </a:blip>
            <a:stretch>
              <a:fillRect l="0" t="-39192" r="0" b="0"/>
            </a:stretch>
          </a:blipFill>
          <a:ln cap="sq">
            <a:noFill/>
            <a:prstDash val="solid"/>
            <a:miter/>
          </a:ln>
        </p:spPr>
      </p:sp>
      <p:sp>
        <p:nvSpPr>
          <p:cNvPr name="Freeform 3" id="3"/>
          <p:cNvSpPr/>
          <p:nvPr/>
        </p:nvSpPr>
        <p:spPr>
          <a:xfrm flipH="false" flipV="false" rot="2598527">
            <a:off x="-4219989" y="6542476"/>
            <a:ext cx="8726876" cy="5438929"/>
          </a:xfrm>
          <a:custGeom>
            <a:avLst/>
            <a:gdLst/>
            <a:ahLst/>
            <a:cxnLst/>
            <a:rect r="r" b="b" t="t" l="l"/>
            <a:pathLst>
              <a:path h="5438929" w="8726876">
                <a:moveTo>
                  <a:pt x="0" y="0"/>
                </a:moveTo>
                <a:lnTo>
                  <a:pt x="8726876" y="0"/>
                </a:lnTo>
                <a:lnTo>
                  <a:pt x="8726876" y="5438928"/>
                </a:lnTo>
                <a:lnTo>
                  <a:pt x="0" y="5438928"/>
                </a:lnTo>
                <a:lnTo>
                  <a:pt x="0" y="0"/>
                </a:lnTo>
                <a:close/>
              </a:path>
            </a:pathLst>
          </a:custGeom>
          <a:blipFill>
            <a:blip r:embed="rId2">
              <a:extLst>
                <a:ext uri="{96DAC541-7B7A-43D3-8B79-37D633B846F1}">
                  <asvg:svgBlip xmlns:asvg="http://schemas.microsoft.com/office/drawing/2016/SVG/main" r:embed="rId3"/>
                </a:ext>
              </a:extLst>
            </a:blip>
            <a:stretch>
              <a:fillRect l="0" t="-39192" r="0" b="0"/>
            </a:stretch>
          </a:blipFill>
          <a:ln cap="sq">
            <a:noFill/>
            <a:prstDash val="solid"/>
            <a:miter/>
          </a:ln>
        </p:spPr>
      </p:sp>
      <p:sp>
        <p:nvSpPr>
          <p:cNvPr name="Freeform 4" id="4"/>
          <p:cNvSpPr/>
          <p:nvPr/>
        </p:nvSpPr>
        <p:spPr>
          <a:xfrm flipH="false" flipV="false" rot="0">
            <a:off x="625614" y="1380431"/>
            <a:ext cx="17036772" cy="1554605"/>
          </a:xfrm>
          <a:custGeom>
            <a:avLst/>
            <a:gdLst/>
            <a:ahLst/>
            <a:cxnLst/>
            <a:rect r="r" b="b" t="t" l="l"/>
            <a:pathLst>
              <a:path h="1554605" w="17036772">
                <a:moveTo>
                  <a:pt x="0" y="0"/>
                </a:moveTo>
                <a:lnTo>
                  <a:pt x="17036772" y="0"/>
                </a:lnTo>
                <a:lnTo>
                  <a:pt x="17036772" y="1554605"/>
                </a:lnTo>
                <a:lnTo>
                  <a:pt x="0" y="15546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true" rot="0">
            <a:off x="1028700" y="3192113"/>
            <a:ext cx="16230600" cy="6066187"/>
          </a:xfrm>
          <a:custGeom>
            <a:avLst/>
            <a:gdLst/>
            <a:ahLst/>
            <a:cxnLst/>
            <a:rect r="r" b="b" t="t" l="l"/>
            <a:pathLst>
              <a:path h="6066187" w="16230600">
                <a:moveTo>
                  <a:pt x="0" y="6066187"/>
                </a:moveTo>
                <a:lnTo>
                  <a:pt x="16230600" y="6066187"/>
                </a:lnTo>
                <a:lnTo>
                  <a:pt x="16230600" y="0"/>
                </a:lnTo>
                <a:lnTo>
                  <a:pt x="0" y="0"/>
                </a:lnTo>
                <a:lnTo>
                  <a:pt x="0" y="606618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909447" y="3684280"/>
            <a:ext cx="14152934" cy="5326750"/>
          </a:xfrm>
          <a:prstGeom prst="rect">
            <a:avLst/>
          </a:prstGeom>
        </p:spPr>
        <p:txBody>
          <a:bodyPr anchor="t" rtlCol="false" tIns="0" lIns="0" bIns="0" rIns="0">
            <a:spAutoFit/>
          </a:bodyPr>
          <a:lstStyle/>
          <a:p>
            <a:pPr algn="l" marL="466438" indent="-233219" lvl="1">
              <a:lnSpc>
                <a:spcPts val="3024"/>
              </a:lnSpc>
              <a:buFont typeface="Arial"/>
              <a:buChar char="•"/>
            </a:pPr>
            <a:r>
              <a:rPr lang="en-US" sz="2160">
                <a:solidFill>
                  <a:srgbClr val="3D3B3B"/>
                </a:solidFill>
                <a:latin typeface="Nunito Sans Condensed"/>
                <a:ea typeface="Nunito Sans Condensed"/>
                <a:cs typeface="Nunito Sans Condensed"/>
                <a:sym typeface="Nunito Sans Condensed"/>
              </a:rPr>
              <a:t>Konsep OLS dan Korelasi:</a:t>
            </a:r>
          </a:p>
          <a:p>
            <a:pPr algn="l" marL="932876" indent="-310959" lvl="2">
              <a:lnSpc>
                <a:spcPts val="3024"/>
              </a:lnSpc>
              <a:buFont typeface="Arial"/>
              <a:buChar char="⚬"/>
            </a:pPr>
            <a:r>
              <a:rPr lang="en-US" sz="2160">
                <a:solidFill>
                  <a:srgbClr val="3D3B3B"/>
                </a:solidFill>
                <a:latin typeface="Nunito Sans Condensed"/>
                <a:ea typeface="Nunito Sans Condensed"/>
                <a:cs typeface="Nunito Sans Condensed"/>
                <a:sym typeface="Nunito Sans Condensed"/>
              </a:rPr>
              <a:t>Regresi Linier Sederhana: Model Y = a + bX. Tujuannya meminimalkan  ∑ei^2.</a:t>
            </a:r>
          </a:p>
          <a:p>
            <a:pPr algn="l" marL="932876" indent="-310959" lvl="2">
              <a:lnSpc>
                <a:spcPts val="3024"/>
              </a:lnSpc>
              <a:buFont typeface="Arial"/>
              <a:buChar char="⚬"/>
            </a:pPr>
            <a:r>
              <a:rPr lang="en-US" sz="2160">
                <a:solidFill>
                  <a:srgbClr val="3D3B3B"/>
                </a:solidFill>
                <a:latin typeface="Nunito Sans Condensed"/>
                <a:ea typeface="Nunito Sans Condensed"/>
                <a:cs typeface="Nunito Sans Condensed"/>
                <a:sym typeface="Nunito Sans Condensed"/>
              </a:rPr>
              <a:t>Korelasi Pearson: r mengukur kekuatan hubungan linier.</a:t>
            </a:r>
          </a:p>
          <a:p>
            <a:pPr algn="l" marL="466438" indent="-233219" lvl="1">
              <a:lnSpc>
                <a:spcPts val="3024"/>
              </a:lnSpc>
              <a:buFont typeface="Arial"/>
              <a:buChar char="•"/>
            </a:pPr>
            <a:r>
              <a:rPr lang="en-US" sz="2160">
                <a:solidFill>
                  <a:srgbClr val="3D3B3B"/>
                </a:solidFill>
                <a:latin typeface="Nunito Sans Condensed"/>
                <a:ea typeface="Nunito Sans Condensed"/>
                <a:cs typeface="Nunito Sans Condensed"/>
                <a:sym typeface="Nunito Sans Condensed"/>
              </a:rPr>
              <a:t>Prinsip Jackknife:</a:t>
            </a:r>
          </a:p>
          <a:p>
            <a:pPr algn="l" marL="932876" indent="-310959" lvl="2">
              <a:lnSpc>
                <a:spcPts val="3024"/>
              </a:lnSpc>
              <a:buFont typeface="Arial"/>
              <a:buChar char="⚬"/>
            </a:pPr>
            <a:r>
              <a:rPr lang="en-US" sz="2160">
                <a:solidFill>
                  <a:srgbClr val="3D3B3B"/>
                </a:solidFill>
                <a:latin typeface="Nunito Sans Condensed"/>
                <a:ea typeface="Nunito Sans Condensed"/>
                <a:cs typeface="Nunito Sans Condensed"/>
                <a:sym typeface="Nunito Sans Condensed"/>
              </a:rPr>
              <a:t>Metode Resampling non-parametrik.</a:t>
            </a:r>
          </a:p>
          <a:p>
            <a:pPr algn="l" marL="932876" indent="-310959" lvl="2">
              <a:lnSpc>
                <a:spcPts val="3024"/>
              </a:lnSpc>
              <a:spcBef>
                <a:spcPct val="0"/>
              </a:spcBef>
              <a:buFont typeface="Arial"/>
              <a:buChar char="⚬"/>
            </a:pPr>
            <a:r>
              <a:rPr lang="en-US" sz="2160">
                <a:solidFill>
                  <a:srgbClr val="3D3B3B"/>
                </a:solidFill>
                <a:latin typeface="Nunito Sans Condensed"/>
                <a:ea typeface="Nunito Sans Condensed"/>
                <a:cs typeface="Nunito Sans Condensed"/>
                <a:sym typeface="Nunito Sans Condensed"/>
              </a:rPr>
              <a:t>Prinsip Leave-One-Out (LOO): Menghitung ulang statistik sebanyak N kali, d</a:t>
            </a:r>
            <a:r>
              <a:rPr lang="en-US" sz="2160" strike="noStrike" u="none">
                <a:solidFill>
                  <a:srgbClr val="3D3B3B"/>
                </a:solidFill>
                <a:latin typeface="Nunito Sans Condensed"/>
                <a:ea typeface="Nunito Sans Condensed"/>
                <a:cs typeface="Nunito Sans Condensed"/>
                <a:sym typeface="Nunito Sans Condensed"/>
              </a:rPr>
              <a:t>engan menghilangkan satu data (i) secara bergantian.</a:t>
            </a:r>
          </a:p>
          <a:p>
            <a:pPr algn="l" marL="932876" indent="-310959" lvl="2">
              <a:lnSpc>
                <a:spcPts val="3024"/>
              </a:lnSpc>
              <a:spcBef>
                <a:spcPct val="0"/>
              </a:spcBef>
              <a:buFont typeface="Arial"/>
              <a:buChar char="⚬"/>
            </a:pPr>
            <a:r>
              <a:rPr lang="en-US" sz="2160" strike="noStrike" u="none">
                <a:solidFill>
                  <a:srgbClr val="3D3B3B"/>
                </a:solidFill>
                <a:latin typeface="Nunito Sans Condensed"/>
                <a:ea typeface="Nunito Sans Condensed"/>
                <a:cs typeface="Nunito Sans Condensed"/>
                <a:sym typeface="Nunito Sans Condensed"/>
              </a:rPr>
              <a:t>Tujuan: Mendapatkan estimasi yang biasnya telah dikoreksi dan variansi yang lebih akurat.</a:t>
            </a:r>
          </a:p>
          <a:p>
            <a:pPr algn="l" marL="466438" indent="-233219" lvl="1">
              <a:lnSpc>
                <a:spcPts val="3024"/>
              </a:lnSpc>
              <a:spcBef>
                <a:spcPct val="0"/>
              </a:spcBef>
              <a:buFont typeface="Arial"/>
              <a:buChar char="•"/>
            </a:pPr>
            <a:r>
              <a:rPr lang="en-US" sz="2160" strike="noStrike" u="none">
                <a:solidFill>
                  <a:srgbClr val="3D3B3B"/>
                </a:solidFill>
                <a:latin typeface="Nunito Sans Condensed"/>
                <a:ea typeface="Nunito Sans Condensed"/>
                <a:cs typeface="Nunito Sans Condensed"/>
                <a:sym typeface="Nunito Sans Condensed"/>
              </a:rPr>
              <a:t>Rumus Kunci:</a:t>
            </a:r>
          </a:p>
          <a:p>
            <a:pPr algn="l" marL="932876" indent="-310959" lvl="2">
              <a:lnSpc>
                <a:spcPts val="3024"/>
              </a:lnSpc>
              <a:spcBef>
                <a:spcPct val="0"/>
              </a:spcBef>
              <a:buFont typeface="Arial"/>
              <a:buChar char="⚬"/>
            </a:pPr>
            <a:r>
              <a:rPr lang="en-US" sz="2160" strike="noStrike" u="none">
                <a:solidFill>
                  <a:srgbClr val="3D3B3B"/>
                </a:solidFill>
                <a:latin typeface="Nunito Sans Condensed"/>
                <a:ea typeface="Nunito Sans Condensed"/>
                <a:cs typeface="Nunito Sans Condensed"/>
                <a:sym typeface="Nunito Sans Condensed"/>
              </a:rPr>
              <a:t>Pseudovalue (Ti): Digunakan untuk mengoreksi bias. </a:t>
            </a:r>
          </a:p>
          <a:p>
            <a:pPr algn="l">
              <a:lnSpc>
                <a:spcPts val="3024"/>
              </a:lnSpc>
              <a:spcBef>
                <a:spcPct val="0"/>
              </a:spcBef>
            </a:pPr>
            <a:r>
              <a:rPr lang="en-US" sz="2160" strike="noStrike" u="none">
                <a:solidFill>
                  <a:srgbClr val="3D3B3B"/>
                </a:solidFill>
                <a:latin typeface="Nunito Sans Condensed"/>
                <a:ea typeface="Nunito Sans Condensed"/>
                <a:cs typeface="Nunito Sans Condensed"/>
                <a:sym typeface="Nunito Sans Condensed"/>
              </a:rPr>
              <a:t>                                                    </a:t>
            </a:r>
          </a:p>
          <a:p>
            <a:pPr algn="l">
              <a:lnSpc>
                <a:spcPts val="3024"/>
              </a:lnSpc>
              <a:spcBef>
                <a:spcPct val="0"/>
              </a:spcBef>
            </a:pPr>
          </a:p>
          <a:p>
            <a:pPr algn="l" marL="932876" indent="-310959" lvl="2">
              <a:lnSpc>
                <a:spcPts val="3024"/>
              </a:lnSpc>
              <a:spcBef>
                <a:spcPct val="0"/>
              </a:spcBef>
              <a:buFont typeface="Arial"/>
              <a:buChar char="⚬"/>
            </a:pPr>
            <a:r>
              <a:rPr lang="en-US" sz="2160" strike="noStrike" u="none">
                <a:solidFill>
                  <a:srgbClr val="3D3B3B"/>
                </a:solidFill>
                <a:latin typeface="Nunito Sans Condensed"/>
                <a:ea typeface="Nunito Sans Condensed"/>
                <a:cs typeface="Nunito Sans Condensed"/>
                <a:sym typeface="Nunito Sans Condensed"/>
              </a:rPr>
              <a:t>T</a:t>
            </a:r>
            <a:r>
              <a:rPr lang="en-US" sz="2160" strike="noStrike" u="none">
                <a:solidFill>
                  <a:srgbClr val="3D3B3B"/>
                </a:solidFill>
                <a:latin typeface="Nunito Sans Condensed"/>
                <a:ea typeface="Nunito Sans Condensed"/>
                <a:cs typeface="Nunito Sans Condensed"/>
                <a:sym typeface="Nunito Sans Condensed"/>
              </a:rPr>
              <a:t> = Estimasi OLS, Ti = Estimasi setelah data ke-i dihapus)</a:t>
            </a:r>
          </a:p>
          <a:p>
            <a:pPr algn="l">
              <a:lnSpc>
                <a:spcPts val="3024"/>
              </a:lnSpc>
              <a:spcBef>
                <a:spcPct val="0"/>
              </a:spcBef>
            </a:pPr>
          </a:p>
        </p:txBody>
      </p:sp>
      <p:sp>
        <p:nvSpPr>
          <p:cNvPr name="Freeform 7" id="7"/>
          <p:cNvSpPr/>
          <p:nvPr/>
        </p:nvSpPr>
        <p:spPr>
          <a:xfrm flipH="false" flipV="false" rot="0">
            <a:off x="16707001" y="3684773"/>
            <a:ext cx="1104598" cy="1627401"/>
          </a:xfrm>
          <a:custGeom>
            <a:avLst/>
            <a:gdLst/>
            <a:ahLst/>
            <a:cxnLst/>
            <a:rect r="r" b="b" t="t" l="l"/>
            <a:pathLst>
              <a:path h="1627401" w="1104598">
                <a:moveTo>
                  <a:pt x="0" y="0"/>
                </a:moveTo>
                <a:lnTo>
                  <a:pt x="1104598" y="0"/>
                </a:lnTo>
                <a:lnTo>
                  <a:pt x="1104598" y="1627402"/>
                </a:lnTo>
                <a:lnTo>
                  <a:pt x="0" y="16274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7045286" y="3973287"/>
            <a:ext cx="428028" cy="1050375"/>
          </a:xfrm>
          <a:custGeom>
            <a:avLst/>
            <a:gdLst/>
            <a:ahLst/>
            <a:cxnLst/>
            <a:rect r="r" b="b" t="t" l="l"/>
            <a:pathLst>
              <a:path h="1050375" w="428028">
                <a:moveTo>
                  <a:pt x="0" y="0"/>
                </a:moveTo>
                <a:lnTo>
                  <a:pt x="428028" y="0"/>
                </a:lnTo>
                <a:lnTo>
                  <a:pt x="428028" y="1050374"/>
                </a:lnTo>
                <a:lnTo>
                  <a:pt x="0" y="10503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783870">
            <a:off x="-760613" y="8116374"/>
            <a:ext cx="3578625" cy="1789313"/>
          </a:xfrm>
          <a:custGeom>
            <a:avLst/>
            <a:gdLst/>
            <a:ahLst/>
            <a:cxnLst/>
            <a:rect r="r" b="b" t="t" l="l"/>
            <a:pathLst>
              <a:path h="1789313" w="3578625">
                <a:moveTo>
                  <a:pt x="0" y="0"/>
                </a:moveTo>
                <a:lnTo>
                  <a:pt x="3578626" y="0"/>
                </a:lnTo>
                <a:lnTo>
                  <a:pt x="3578626" y="1789313"/>
                </a:lnTo>
                <a:lnTo>
                  <a:pt x="0" y="178931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3680513" y="7564671"/>
            <a:ext cx="3006861" cy="605860"/>
          </a:xfrm>
          <a:custGeom>
            <a:avLst/>
            <a:gdLst/>
            <a:ahLst/>
            <a:cxnLst/>
            <a:rect r="r" b="b" t="t" l="l"/>
            <a:pathLst>
              <a:path h="605860" w="3006861">
                <a:moveTo>
                  <a:pt x="0" y="0"/>
                </a:moveTo>
                <a:lnTo>
                  <a:pt x="3006861" y="0"/>
                </a:lnTo>
                <a:lnTo>
                  <a:pt x="3006861" y="605860"/>
                </a:lnTo>
                <a:lnTo>
                  <a:pt x="0" y="605860"/>
                </a:lnTo>
                <a:lnTo>
                  <a:pt x="0" y="0"/>
                </a:lnTo>
                <a:close/>
              </a:path>
            </a:pathLst>
          </a:custGeom>
          <a:blipFill>
            <a:blip r:embed="rId14"/>
            <a:stretch>
              <a:fillRect l="0" t="0" r="0" b="0"/>
            </a:stretch>
          </a:blipFill>
        </p:spPr>
      </p:sp>
      <p:sp>
        <p:nvSpPr>
          <p:cNvPr name="TextBox 11" id="11"/>
          <p:cNvSpPr txBox="true"/>
          <p:nvPr/>
        </p:nvSpPr>
        <p:spPr>
          <a:xfrm rot="0">
            <a:off x="1359878" y="1706905"/>
            <a:ext cx="15568244" cy="958806"/>
          </a:xfrm>
          <a:prstGeom prst="rect">
            <a:avLst/>
          </a:prstGeom>
        </p:spPr>
        <p:txBody>
          <a:bodyPr anchor="t" rtlCol="false" tIns="0" lIns="0" bIns="0" rIns="0">
            <a:spAutoFit/>
          </a:bodyPr>
          <a:lstStyle/>
          <a:p>
            <a:pPr algn="ctr" marL="0" indent="0" lvl="0">
              <a:lnSpc>
                <a:spcPts val="7251"/>
              </a:lnSpc>
              <a:spcBef>
                <a:spcPct val="0"/>
              </a:spcBef>
            </a:pPr>
            <a:r>
              <a:rPr lang="en-US" sz="6714" spc="-67">
                <a:solidFill>
                  <a:srgbClr val="3D3B3B"/>
                </a:solidFill>
                <a:latin typeface="Bobby Jones"/>
                <a:ea typeface="Bobby Jones"/>
                <a:cs typeface="Bobby Jones"/>
                <a:sym typeface="Bobby Jones"/>
              </a:rPr>
              <a:t>Kons</a:t>
            </a:r>
            <a:r>
              <a:rPr lang="en-US" sz="6714" spc="-67" strike="noStrike" u="none">
                <a:solidFill>
                  <a:srgbClr val="3D3B3B"/>
                </a:solidFill>
                <a:latin typeface="Bobby Jones"/>
                <a:ea typeface="Bobby Jones"/>
                <a:cs typeface="Bobby Jones"/>
                <a:sym typeface="Bobby Jones"/>
              </a:rPr>
              <a:t>ep Dasar dan Metode Jackknife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5012879">
            <a:off x="-7206916" y="-449191"/>
            <a:ext cx="14034521" cy="11543394"/>
          </a:xfrm>
          <a:custGeom>
            <a:avLst/>
            <a:gdLst/>
            <a:ahLst/>
            <a:cxnLst/>
            <a:rect r="r" b="b" t="t" l="l"/>
            <a:pathLst>
              <a:path h="11543394" w="14034521">
                <a:moveTo>
                  <a:pt x="0" y="0"/>
                </a:moveTo>
                <a:lnTo>
                  <a:pt x="14034521" y="0"/>
                </a:lnTo>
                <a:lnTo>
                  <a:pt x="14034521" y="11543393"/>
                </a:lnTo>
                <a:lnTo>
                  <a:pt x="0" y="115433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55941" y="1028700"/>
            <a:ext cx="16176118" cy="8229600"/>
          </a:xfrm>
          <a:custGeom>
            <a:avLst/>
            <a:gdLst/>
            <a:ahLst/>
            <a:cxnLst/>
            <a:rect r="r" b="b" t="t" l="l"/>
            <a:pathLst>
              <a:path h="8229600" w="16176118">
                <a:moveTo>
                  <a:pt x="0" y="0"/>
                </a:moveTo>
                <a:lnTo>
                  <a:pt x="16176118" y="0"/>
                </a:lnTo>
                <a:lnTo>
                  <a:pt x="16176118"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422174" y="3140076"/>
            <a:ext cx="586142" cy="586142"/>
          </a:xfrm>
          <a:custGeom>
            <a:avLst/>
            <a:gdLst/>
            <a:ahLst/>
            <a:cxnLst/>
            <a:rect r="r" b="b" t="t" l="l"/>
            <a:pathLst>
              <a:path h="586142" w="586142">
                <a:moveTo>
                  <a:pt x="0" y="0"/>
                </a:moveTo>
                <a:lnTo>
                  <a:pt x="586142" y="0"/>
                </a:lnTo>
                <a:lnTo>
                  <a:pt x="586142" y="586142"/>
                </a:lnTo>
                <a:lnTo>
                  <a:pt x="0" y="5861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422174" y="4290061"/>
            <a:ext cx="586142" cy="586142"/>
          </a:xfrm>
          <a:custGeom>
            <a:avLst/>
            <a:gdLst/>
            <a:ahLst/>
            <a:cxnLst/>
            <a:rect r="r" b="b" t="t" l="l"/>
            <a:pathLst>
              <a:path h="586142" w="586142">
                <a:moveTo>
                  <a:pt x="0" y="0"/>
                </a:moveTo>
                <a:lnTo>
                  <a:pt x="586142" y="0"/>
                </a:lnTo>
                <a:lnTo>
                  <a:pt x="586142" y="586142"/>
                </a:lnTo>
                <a:lnTo>
                  <a:pt x="0" y="5861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8422174" y="6030596"/>
            <a:ext cx="586142" cy="586142"/>
          </a:xfrm>
          <a:custGeom>
            <a:avLst/>
            <a:gdLst/>
            <a:ahLst/>
            <a:cxnLst/>
            <a:rect r="r" b="b" t="t" l="l"/>
            <a:pathLst>
              <a:path h="586142" w="586142">
                <a:moveTo>
                  <a:pt x="0" y="0"/>
                </a:moveTo>
                <a:lnTo>
                  <a:pt x="586142" y="0"/>
                </a:lnTo>
                <a:lnTo>
                  <a:pt x="586142" y="586142"/>
                </a:lnTo>
                <a:lnTo>
                  <a:pt x="0" y="5861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2405795" y="5599461"/>
            <a:ext cx="6016379" cy="3075874"/>
          </a:xfrm>
          <a:custGeom>
            <a:avLst/>
            <a:gdLst/>
            <a:ahLst/>
            <a:cxnLst/>
            <a:rect r="r" b="b" t="t" l="l"/>
            <a:pathLst>
              <a:path h="3075874" w="6016379">
                <a:moveTo>
                  <a:pt x="0" y="0"/>
                </a:moveTo>
                <a:lnTo>
                  <a:pt x="6016379" y="0"/>
                </a:lnTo>
                <a:lnTo>
                  <a:pt x="6016379" y="3075874"/>
                </a:lnTo>
                <a:lnTo>
                  <a:pt x="0" y="30758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9215932" y="3073401"/>
            <a:ext cx="7162621" cy="1073785"/>
          </a:xfrm>
          <a:prstGeom prst="rect">
            <a:avLst/>
          </a:prstGeom>
        </p:spPr>
        <p:txBody>
          <a:bodyPr anchor="t" rtlCol="false" tIns="0" lIns="0" bIns="0" rIns="0">
            <a:spAutoFit/>
          </a:bodyPr>
          <a:lstStyle/>
          <a:p>
            <a:pPr algn="l">
              <a:lnSpc>
                <a:spcPts val="4340"/>
              </a:lnSpc>
            </a:pPr>
            <a:r>
              <a:rPr lang="en-US" sz="3100">
                <a:solidFill>
                  <a:srgbClr val="3D3B3B"/>
                </a:solidFill>
                <a:latin typeface="Nunito Sans Condensed"/>
                <a:ea typeface="Nunito Sans Condensed"/>
                <a:cs typeface="Nunito Sans Condensed"/>
                <a:sym typeface="Nunito Sans Condensed"/>
              </a:rPr>
              <a:t>Metode Penelitian: Kuantitatif, Analisis Regresi d</a:t>
            </a:r>
            <a:r>
              <a:rPr lang="en-US" sz="3100" strike="noStrike" u="none">
                <a:solidFill>
                  <a:srgbClr val="3D3B3B"/>
                </a:solidFill>
                <a:latin typeface="Nunito Sans Condensed"/>
                <a:ea typeface="Nunito Sans Condensed"/>
                <a:cs typeface="Nunito Sans Condensed"/>
                <a:sym typeface="Nunito Sans Condensed"/>
              </a:rPr>
              <a:t>an Resampling Jackknife.</a:t>
            </a:r>
          </a:p>
        </p:txBody>
      </p:sp>
      <p:sp>
        <p:nvSpPr>
          <p:cNvPr name="TextBox 9" id="9"/>
          <p:cNvSpPr txBox="true"/>
          <p:nvPr/>
        </p:nvSpPr>
        <p:spPr>
          <a:xfrm rot="0">
            <a:off x="9215932" y="4223386"/>
            <a:ext cx="7162621" cy="1616710"/>
          </a:xfrm>
          <a:prstGeom prst="rect">
            <a:avLst/>
          </a:prstGeom>
        </p:spPr>
        <p:txBody>
          <a:bodyPr anchor="t" rtlCol="false" tIns="0" lIns="0" bIns="0" rIns="0">
            <a:spAutoFit/>
          </a:bodyPr>
          <a:lstStyle/>
          <a:p>
            <a:pPr algn="l">
              <a:lnSpc>
                <a:spcPts val="4340"/>
              </a:lnSpc>
            </a:pPr>
            <a:r>
              <a:rPr lang="en-US" sz="3100">
                <a:solidFill>
                  <a:srgbClr val="3D3B3B"/>
                </a:solidFill>
                <a:latin typeface="Nunito Sans Condensed"/>
                <a:ea typeface="Nunito Sans Condensed"/>
                <a:cs typeface="Nunito Sans Condensed"/>
                <a:sym typeface="Nunito Sans Condensed"/>
              </a:rPr>
              <a:t>Sumber Data: Data Sekunder, Badan Pusat Statistik (BPS) Provinsi L</a:t>
            </a:r>
            <a:r>
              <a:rPr lang="en-US" sz="3100" strike="noStrike" u="none">
                <a:solidFill>
                  <a:srgbClr val="3D3B3B"/>
                </a:solidFill>
                <a:latin typeface="Nunito Sans Condensed"/>
                <a:ea typeface="Nunito Sans Condensed"/>
                <a:cs typeface="Nunito Sans Condensed"/>
                <a:sym typeface="Nunito Sans Condensed"/>
              </a:rPr>
              <a:t>ampung, N = 15 Kabupaten/Kota (Data Cross-Sectional). </a:t>
            </a:r>
          </a:p>
        </p:txBody>
      </p:sp>
      <p:sp>
        <p:nvSpPr>
          <p:cNvPr name="TextBox 10" id="10"/>
          <p:cNvSpPr txBox="true"/>
          <p:nvPr/>
        </p:nvSpPr>
        <p:spPr>
          <a:xfrm rot="0">
            <a:off x="3573942" y="1565907"/>
            <a:ext cx="6738205" cy="2296668"/>
          </a:xfrm>
          <a:prstGeom prst="rect">
            <a:avLst/>
          </a:prstGeom>
        </p:spPr>
        <p:txBody>
          <a:bodyPr anchor="t" rtlCol="false" tIns="0" lIns="0" bIns="0" rIns="0">
            <a:spAutoFit/>
          </a:bodyPr>
          <a:lstStyle/>
          <a:p>
            <a:pPr algn="l" marL="0" indent="0" lvl="0">
              <a:lnSpc>
                <a:spcPts val="8855"/>
              </a:lnSpc>
              <a:spcBef>
                <a:spcPct val="0"/>
              </a:spcBef>
            </a:pPr>
            <a:r>
              <a:rPr lang="en-US" sz="8199">
                <a:solidFill>
                  <a:srgbClr val="3D3B3B"/>
                </a:solidFill>
                <a:latin typeface="Bobby Jones"/>
                <a:ea typeface="Bobby Jones"/>
                <a:cs typeface="Bobby Jones"/>
                <a:sym typeface="Bobby Jones"/>
              </a:rPr>
              <a:t>Metodolo</a:t>
            </a:r>
            <a:r>
              <a:rPr lang="en-US" sz="8199" strike="noStrike" u="none">
                <a:solidFill>
                  <a:srgbClr val="3D3B3B"/>
                </a:solidFill>
                <a:latin typeface="Bobby Jones"/>
                <a:ea typeface="Bobby Jones"/>
                <a:cs typeface="Bobby Jones"/>
                <a:sym typeface="Bobby Jones"/>
              </a:rPr>
              <a:t>gi &amp; Data</a:t>
            </a:r>
          </a:p>
        </p:txBody>
      </p:sp>
      <p:sp>
        <p:nvSpPr>
          <p:cNvPr name="TextBox 11" id="11"/>
          <p:cNvSpPr txBox="true"/>
          <p:nvPr/>
        </p:nvSpPr>
        <p:spPr>
          <a:xfrm rot="0">
            <a:off x="9215932" y="5916296"/>
            <a:ext cx="7371113" cy="3245485"/>
          </a:xfrm>
          <a:prstGeom prst="rect">
            <a:avLst/>
          </a:prstGeom>
        </p:spPr>
        <p:txBody>
          <a:bodyPr anchor="t" rtlCol="false" tIns="0" lIns="0" bIns="0" rIns="0">
            <a:spAutoFit/>
          </a:bodyPr>
          <a:lstStyle/>
          <a:p>
            <a:pPr algn="l">
              <a:lnSpc>
                <a:spcPts val="4340"/>
              </a:lnSpc>
            </a:pPr>
            <a:r>
              <a:rPr lang="en-US" sz="3100">
                <a:solidFill>
                  <a:srgbClr val="3D3B3B"/>
                </a:solidFill>
                <a:latin typeface="Nunito Sans Condensed"/>
                <a:ea typeface="Nunito Sans Condensed"/>
                <a:cs typeface="Nunito Sans Condensed"/>
                <a:sym typeface="Nunito Sans Condensed"/>
              </a:rPr>
              <a:t>V</a:t>
            </a:r>
            <a:r>
              <a:rPr lang="en-US" sz="3100" strike="noStrike" u="none">
                <a:solidFill>
                  <a:srgbClr val="3D3B3B"/>
                </a:solidFill>
                <a:latin typeface="Nunito Sans Condensed"/>
                <a:ea typeface="Nunito Sans Condensed"/>
                <a:cs typeface="Nunito Sans Condensed"/>
                <a:sym typeface="Nunito Sans Condensed"/>
              </a:rPr>
              <a:t>ariabel:</a:t>
            </a:r>
          </a:p>
          <a:p>
            <a:pPr algn="l" marL="669291" indent="-334646" lvl="1">
              <a:lnSpc>
                <a:spcPts val="4340"/>
              </a:lnSpc>
              <a:buFont typeface="Arial"/>
              <a:buChar char="•"/>
            </a:pPr>
            <a:r>
              <a:rPr lang="en-US" sz="3100" strike="noStrike" u="none">
                <a:solidFill>
                  <a:srgbClr val="3D3B3B"/>
                </a:solidFill>
                <a:latin typeface="Nunito Sans Condensed"/>
                <a:ea typeface="Nunito Sans Condensed"/>
                <a:cs typeface="Nunito Sans Condensed"/>
                <a:sym typeface="Nunito Sans Condensed"/>
              </a:rPr>
              <a:t>Variabel Independen (X): Jumlah Penduduk Miskin (JPM, dalam ribu jiwa).</a:t>
            </a:r>
          </a:p>
          <a:p>
            <a:pPr algn="l" marL="669291" indent="-334646" lvl="1">
              <a:lnSpc>
                <a:spcPts val="4340"/>
              </a:lnSpc>
              <a:buFont typeface="Arial"/>
              <a:buChar char="•"/>
            </a:pPr>
            <a:r>
              <a:rPr lang="en-US" sz="3100" strike="noStrike" u="none">
                <a:solidFill>
                  <a:srgbClr val="3D3B3B"/>
                </a:solidFill>
                <a:latin typeface="Nunito Sans Condensed"/>
                <a:ea typeface="Nunito Sans Condensed"/>
                <a:cs typeface="Nunito Sans Condensed"/>
                <a:sym typeface="Nunito Sans Condensed"/>
              </a:rPr>
              <a:t>Variabel Dependen (Y): Jumlah Sekolah (dalam unit).</a:t>
            </a:r>
          </a:p>
          <a:p>
            <a:pPr algn="l">
              <a:lnSpc>
                <a:spcPts val="4340"/>
              </a:lnSpc>
            </a:pPr>
          </a:p>
        </p:txBody>
      </p:sp>
      <p:sp>
        <p:nvSpPr>
          <p:cNvPr name="Freeform 12" id="12"/>
          <p:cNvSpPr/>
          <p:nvPr/>
        </p:nvSpPr>
        <p:spPr>
          <a:xfrm flipH="false" flipV="false" rot="-10800000">
            <a:off x="15253274" y="568706"/>
            <a:ext cx="1675755" cy="1842001"/>
          </a:xfrm>
          <a:custGeom>
            <a:avLst/>
            <a:gdLst/>
            <a:ahLst/>
            <a:cxnLst/>
            <a:rect r="r" b="b" t="t" l="l"/>
            <a:pathLst>
              <a:path h="1842001" w="1675755">
                <a:moveTo>
                  <a:pt x="0" y="0"/>
                </a:moveTo>
                <a:lnTo>
                  <a:pt x="1675755" y="0"/>
                </a:lnTo>
                <a:lnTo>
                  <a:pt x="1675755" y="1842001"/>
                </a:lnTo>
                <a:lnTo>
                  <a:pt x="0" y="18420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3" id="13"/>
          <p:cNvSpPr/>
          <p:nvPr/>
        </p:nvSpPr>
        <p:spPr>
          <a:xfrm flipH="true" flipV="false" rot="-10358827">
            <a:off x="16914313" y="-168637"/>
            <a:ext cx="689975" cy="5158689"/>
          </a:xfrm>
          <a:custGeom>
            <a:avLst/>
            <a:gdLst/>
            <a:ahLst/>
            <a:cxnLst/>
            <a:rect r="r" b="b" t="t" l="l"/>
            <a:pathLst>
              <a:path h="5158689" w="689975">
                <a:moveTo>
                  <a:pt x="689974" y="0"/>
                </a:moveTo>
                <a:lnTo>
                  <a:pt x="0" y="0"/>
                </a:lnTo>
                <a:lnTo>
                  <a:pt x="0" y="5158689"/>
                </a:lnTo>
                <a:lnTo>
                  <a:pt x="689974" y="5158689"/>
                </a:lnTo>
                <a:lnTo>
                  <a:pt x="689974"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4" id="14"/>
          <p:cNvSpPr/>
          <p:nvPr/>
        </p:nvSpPr>
        <p:spPr>
          <a:xfrm flipH="false" flipV="false" rot="1993793">
            <a:off x="-768159" y="7083560"/>
            <a:ext cx="3954369" cy="2595054"/>
          </a:xfrm>
          <a:custGeom>
            <a:avLst/>
            <a:gdLst/>
            <a:ahLst/>
            <a:cxnLst/>
            <a:rect r="r" b="b" t="t" l="l"/>
            <a:pathLst>
              <a:path h="2595054" w="3954369">
                <a:moveTo>
                  <a:pt x="0" y="0"/>
                </a:moveTo>
                <a:lnTo>
                  <a:pt x="3954369" y="0"/>
                </a:lnTo>
                <a:lnTo>
                  <a:pt x="3954369" y="2595054"/>
                </a:lnTo>
                <a:lnTo>
                  <a:pt x="0" y="259505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0">
            <a:off x="530971" y="762000"/>
            <a:ext cx="7590949" cy="8763000"/>
          </a:xfrm>
          <a:custGeom>
            <a:avLst/>
            <a:gdLst/>
            <a:ahLst/>
            <a:cxnLst/>
            <a:rect r="r" b="b" t="t" l="l"/>
            <a:pathLst>
              <a:path h="8763000" w="7590949">
                <a:moveTo>
                  <a:pt x="0" y="0"/>
                </a:moveTo>
                <a:lnTo>
                  <a:pt x="7590949" y="0"/>
                </a:lnTo>
                <a:lnTo>
                  <a:pt x="7590949" y="8763000"/>
                </a:lnTo>
                <a:lnTo>
                  <a:pt x="0" y="87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dash"/>
            <a:miter/>
          </a:ln>
        </p:spPr>
      </p:sp>
      <p:sp>
        <p:nvSpPr>
          <p:cNvPr name="Freeform 3" id="3"/>
          <p:cNvSpPr/>
          <p:nvPr/>
        </p:nvSpPr>
        <p:spPr>
          <a:xfrm flipH="false" flipV="false" rot="5764703">
            <a:off x="7359159" y="1222709"/>
            <a:ext cx="15527885" cy="7841582"/>
          </a:xfrm>
          <a:custGeom>
            <a:avLst/>
            <a:gdLst/>
            <a:ahLst/>
            <a:cxnLst/>
            <a:rect r="r" b="b" t="t" l="l"/>
            <a:pathLst>
              <a:path h="7841582" w="15527885">
                <a:moveTo>
                  <a:pt x="0" y="0"/>
                </a:moveTo>
                <a:lnTo>
                  <a:pt x="15527885" y="0"/>
                </a:lnTo>
                <a:lnTo>
                  <a:pt x="15527885" y="7841582"/>
                </a:lnTo>
                <a:lnTo>
                  <a:pt x="0" y="78415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2567428" y="3708199"/>
            <a:ext cx="3892685" cy="10701539"/>
          </a:xfrm>
          <a:custGeom>
            <a:avLst/>
            <a:gdLst/>
            <a:ahLst/>
            <a:cxnLst/>
            <a:rect r="r" b="b" t="t" l="l"/>
            <a:pathLst>
              <a:path h="10701539" w="3892685">
                <a:moveTo>
                  <a:pt x="0" y="0"/>
                </a:moveTo>
                <a:lnTo>
                  <a:pt x="3892685" y="0"/>
                </a:lnTo>
                <a:lnTo>
                  <a:pt x="3892685" y="10701539"/>
                </a:lnTo>
                <a:lnTo>
                  <a:pt x="0" y="107015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909447" y="1704343"/>
            <a:ext cx="5293076" cy="1172718"/>
          </a:xfrm>
          <a:prstGeom prst="rect">
            <a:avLst/>
          </a:prstGeom>
        </p:spPr>
        <p:txBody>
          <a:bodyPr anchor="t" rtlCol="false" tIns="0" lIns="0" bIns="0" rIns="0">
            <a:spAutoFit/>
          </a:bodyPr>
          <a:lstStyle/>
          <a:p>
            <a:pPr algn="l" marL="0" indent="0" lvl="0">
              <a:lnSpc>
                <a:spcPts val="8855"/>
              </a:lnSpc>
              <a:spcBef>
                <a:spcPct val="0"/>
              </a:spcBef>
            </a:pPr>
            <a:r>
              <a:rPr lang="en-US" sz="8199">
                <a:solidFill>
                  <a:srgbClr val="3D3B3B"/>
                </a:solidFill>
                <a:latin typeface="Bobby Jones"/>
                <a:ea typeface="Bobby Jones"/>
                <a:cs typeface="Bobby Jones"/>
                <a:sym typeface="Bobby Jones"/>
              </a:rPr>
              <a:t>flow chart</a:t>
            </a:r>
          </a:p>
        </p:txBody>
      </p:sp>
      <p:sp>
        <p:nvSpPr>
          <p:cNvPr name="Freeform 6" id="6"/>
          <p:cNvSpPr/>
          <p:nvPr/>
        </p:nvSpPr>
        <p:spPr>
          <a:xfrm flipH="false" flipV="false" rot="-10800000">
            <a:off x="6617042" y="430896"/>
            <a:ext cx="1675755" cy="1842001"/>
          </a:xfrm>
          <a:custGeom>
            <a:avLst/>
            <a:gdLst/>
            <a:ahLst/>
            <a:cxnLst/>
            <a:rect r="r" b="b" t="t" l="l"/>
            <a:pathLst>
              <a:path h="1842001" w="1675755">
                <a:moveTo>
                  <a:pt x="0" y="0"/>
                </a:moveTo>
                <a:lnTo>
                  <a:pt x="1675755" y="0"/>
                </a:lnTo>
                <a:lnTo>
                  <a:pt x="1675755" y="1842001"/>
                </a:lnTo>
                <a:lnTo>
                  <a:pt x="0" y="1842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true" flipV="false" rot="-10358827">
            <a:off x="16508758" y="-457230"/>
            <a:ext cx="689975" cy="5158689"/>
          </a:xfrm>
          <a:custGeom>
            <a:avLst/>
            <a:gdLst/>
            <a:ahLst/>
            <a:cxnLst/>
            <a:rect r="r" b="b" t="t" l="l"/>
            <a:pathLst>
              <a:path h="5158689" w="689975">
                <a:moveTo>
                  <a:pt x="689974" y="0"/>
                </a:moveTo>
                <a:lnTo>
                  <a:pt x="0" y="0"/>
                </a:lnTo>
                <a:lnTo>
                  <a:pt x="0" y="5158689"/>
                </a:lnTo>
                <a:lnTo>
                  <a:pt x="689974" y="5158689"/>
                </a:lnTo>
                <a:lnTo>
                  <a:pt x="689974"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1993793">
            <a:off x="-303895" y="7761441"/>
            <a:ext cx="3954369" cy="2595054"/>
          </a:xfrm>
          <a:custGeom>
            <a:avLst/>
            <a:gdLst/>
            <a:ahLst/>
            <a:cxnLst/>
            <a:rect r="r" b="b" t="t" l="l"/>
            <a:pathLst>
              <a:path h="2595054" w="3954369">
                <a:moveTo>
                  <a:pt x="0" y="0"/>
                </a:moveTo>
                <a:lnTo>
                  <a:pt x="3954369" y="0"/>
                </a:lnTo>
                <a:lnTo>
                  <a:pt x="3954369" y="2595054"/>
                </a:lnTo>
                <a:lnTo>
                  <a:pt x="0" y="25950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8821570" y="762000"/>
            <a:ext cx="7590949" cy="8763000"/>
          </a:xfrm>
          <a:custGeom>
            <a:avLst/>
            <a:gdLst/>
            <a:ahLst/>
            <a:cxnLst/>
            <a:rect r="r" b="b" t="t" l="l"/>
            <a:pathLst>
              <a:path h="8763000" w="7590949">
                <a:moveTo>
                  <a:pt x="0" y="0"/>
                </a:moveTo>
                <a:lnTo>
                  <a:pt x="7590949" y="0"/>
                </a:lnTo>
                <a:lnTo>
                  <a:pt x="7590949" y="8763000"/>
                </a:lnTo>
                <a:lnTo>
                  <a:pt x="0" y="87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dash"/>
            <a:miter/>
          </a:ln>
        </p:spPr>
      </p:sp>
      <p:sp>
        <p:nvSpPr>
          <p:cNvPr name="Freeform 10" id="10"/>
          <p:cNvSpPr/>
          <p:nvPr/>
        </p:nvSpPr>
        <p:spPr>
          <a:xfrm flipH="false" flipV="false" rot="0">
            <a:off x="10082917" y="1047750"/>
            <a:ext cx="6060474" cy="8229600"/>
          </a:xfrm>
          <a:custGeom>
            <a:avLst/>
            <a:gdLst/>
            <a:ahLst/>
            <a:cxnLst/>
            <a:rect r="r" b="b" t="t" l="l"/>
            <a:pathLst>
              <a:path h="8229600" w="6060474">
                <a:moveTo>
                  <a:pt x="0" y="0"/>
                </a:moveTo>
                <a:lnTo>
                  <a:pt x="6060473" y="0"/>
                </a:lnTo>
                <a:lnTo>
                  <a:pt x="6060473" y="8229600"/>
                </a:lnTo>
                <a:lnTo>
                  <a:pt x="0" y="8229600"/>
                </a:lnTo>
                <a:lnTo>
                  <a:pt x="0" y="0"/>
                </a:lnTo>
                <a:close/>
              </a:path>
            </a:pathLst>
          </a:custGeom>
          <a:blipFill>
            <a:blip r:embed="rId14"/>
            <a:stretch>
              <a:fillRect l="0" t="0" r="0" b="0"/>
            </a:stretch>
          </a:blipFill>
          <a:ln w="38100" cap="sq">
            <a:solidFill>
              <a:srgbClr val="000000"/>
            </a:solidFill>
            <a:prstDash val="dash"/>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8083901">
            <a:off x="-2155405" y="208381"/>
            <a:ext cx="6728860" cy="2523323"/>
          </a:xfrm>
          <a:custGeom>
            <a:avLst/>
            <a:gdLst/>
            <a:ahLst/>
            <a:cxnLst/>
            <a:rect r="r" b="b" t="t" l="l"/>
            <a:pathLst>
              <a:path h="2523323" w="6728860">
                <a:moveTo>
                  <a:pt x="0" y="0"/>
                </a:moveTo>
                <a:lnTo>
                  <a:pt x="6728861" y="0"/>
                </a:lnTo>
                <a:lnTo>
                  <a:pt x="6728861" y="2523322"/>
                </a:lnTo>
                <a:lnTo>
                  <a:pt x="0" y="2523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10980">
            <a:off x="1159894" y="1161263"/>
            <a:ext cx="8347364" cy="8263890"/>
          </a:xfrm>
          <a:custGeom>
            <a:avLst/>
            <a:gdLst/>
            <a:ahLst/>
            <a:cxnLst/>
            <a:rect r="r" b="b" t="t" l="l"/>
            <a:pathLst>
              <a:path h="8263890" w="8347364">
                <a:moveTo>
                  <a:pt x="0" y="0"/>
                </a:moveTo>
                <a:lnTo>
                  <a:pt x="8347363" y="0"/>
                </a:lnTo>
                <a:lnTo>
                  <a:pt x="8347363" y="8263890"/>
                </a:lnTo>
                <a:lnTo>
                  <a:pt x="0" y="826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117948">
            <a:off x="8336014" y="1707679"/>
            <a:ext cx="12535990" cy="6362015"/>
          </a:xfrm>
          <a:custGeom>
            <a:avLst/>
            <a:gdLst/>
            <a:ahLst/>
            <a:cxnLst/>
            <a:rect r="r" b="b" t="t" l="l"/>
            <a:pathLst>
              <a:path h="6362015" w="12535990">
                <a:moveTo>
                  <a:pt x="0" y="0"/>
                </a:moveTo>
                <a:lnTo>
                  <a:pt x="12535989" y="0"/>
                </a:lnTo>
                <a:lnTo>
                  <a:pt x="12535989" y="6362015"/>
                </a:lnTo>
                <a:lnTo>
                  <a:pt x="0" y="63620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true" flipV="false" rot="0">
            <a:off x="9376064" y="489164"/>
            <a:ext cx="7684586" cy="9342962"/>
          </a:xfrm>
          <a:custGeom>
            <a:avLst/>
            <a:gdLst/>
            <a:ahLst/>
            <a:cxnLst/>
            <a:rect r="r" b="b" t="t" l="l"/>
            <a:pathLst>
              <a:path h="9342962" w="7684586">
                <a:moveTo>
                  <a:pt x="7684586" y="0"/>
                </a:moveTo>
                <a:lnTo>
                  <a:pt x="0" y="0"/>
                </a:lnTo>
                <a:lnTo>
                  <a:pt x="0" y="9342962"/>
                </a:lnTo>
                <a:lnTo>
                  <a:pt x="7684586" y="9342962"/>
                </a:lnTo>
                <a:lnTo>
                  <a:pt x="768458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899113" y="5293208"/>
            <a:ext cx="2739424" cy="8662211"/>
          </a:xfrm>
          <a:custGeom>
            <a:avLst/>
            <a:gdLst/>
            <a:ahLst/>
            <a:cxnLst/>
            <a:rect r="r" b="b" t="t" l="l"/>
            <a:pathLst>
              <a:path h="8662211" w="2739424">
                <a:moveTo>
                  <a:pt x="0" y="0"/>
                </a:moveTo>
                <a:lnTo>
                  <a:pt x="2739424" y="0"/>
                </a:lnTo>
                <a:lnTo>
                  <a:pt x="2739424" y="8662210"/>
                </a:lnTo>
                <a:lnTo>
                  <a:pt x="0" y="86622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108758" y="1403367"/>
            <a:ext cx="7068753" cy="613411"/>
          </a:xfrm>
          <a:prstGeom prst="rect">
            <a:avLst/>
          </a:prstGeom>
        </p:spPr>
        <p:txBody>
          <a:bodyPr anchor="t" rtlCol="false" tIns="0" lIns="0" bIns="0" rIns="0">
            <a:spAutoFit/>
          </a:bodyPr>
          <a:lstStyle/>
          <a:p>
            <a:pPr algn="l">
              <a:lnSpc>
                <a:spcPts val="5039"/>
              </a:lnSpc>
            </a:pPr>
            <a:r>
              <a:rPr lang="en-US" b="true" sz="3599">
                <a:solidFill>
                  <a:srgbClr val="3D3B3B"/>
                </a:solidFill>
                <a:latin typeface="Nunito Sans Condensed Bold"/>
                <a:ea typeface="Nunito Sans Condensed Bold"/>
                <a:cs typeface="Nunito Sans Condensed Bold"/>
                <a:sym typeface="Nunito Sans Condensed Bold"/>
              </a:rPr>
              <a:t>1. Koreks</a:t>
            </a:r>
            <a:r>
              <a:rPr lang="en-US" b="true" sz="3599" strike="noStrike" u="none">
                <a:solidFill>
                  <a:srgbClr val="3D3B3B"/>
                </a:solidFill>
                <a:latin typeface="Nunito Sans Condensed Bold"/>
                <a:ea typeface="Nunito Sans Condensed Bold"/>
                <a:cs typeface="Nunito Sans Condensed Bold"/>
                <a:sym typeface="Nunito Sans Condensed Bold"/>
              </a:rPr>
              <a:t>i Bias (Estimasi Parameter)</a:t>
            </a:r>
          </a:p>
        </p:txBody>
      </p:sp>
      <p:sp>
        <p:nvSpPr>
          <p:cNvPr name="Freeform 8" id="8"/>
          <p:cNvSpPr/>
          <p:nvPr/>
        </p:nvSpPr>
        <p:spPr>
          <a:xfrm flipH="false" flipV="false" rot="-10800000">
            <a:off x="15668610" y="174776"/>
            <a:ext cx="1675755" cy="1842001"/>
          </a:xfrm>
          <a:custGeom>
            <a:avLst/>
            <a:gdLst/>
            <a:ahLst/>
            <a:cxnLst/>
            <a:rect r="r" b="b" t="t" l="l"/>
            <a:pathLst>
              <a:path h="1842001" w="1675755">
                <a:moveTo>
                  <a:pt x="0" y="0"/>
                </a:moveTo>
                <a:lnTo>
                  <a:pt x="1675756" y="0"/>
                </a:lnTo>
                <a:lnTo>
                  <a:pt x="1675756" y="1842001"/>
                </a:lnTo>
                <a:lnTo>
                  <a:pt x="0" y="18420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true" flipV="false" rot="-10358827">
            <a:off x="17031801" y="-38130"/>
            <a:ext cx="689975" cy="5158689"/>
          </a:xfrm>
          <a:custGeom>
            <a:avLst/>
            <a:gdLst/>
            <a:ahLst/>
            <a:cxnLst/>
            <a:rect r="r" b="b" t="t" l="l"/>
            <a:pathLst>
              <a:path h="5158689" w="689975">
                <a:moveTo>
                  <a:pt x="689974" y="0"/>
                </a:moveTo>
                <a:lnTo>
                  <a:pt x="0" y="0"/>
                </a:lnTo>
                <a:lnTo>
                  <a:pt x="0" y="5158689"/>
                </a:lnTo>
                <a:lnTo>
                  <a:pt x="689974" y="5158689"/>
                </a:lnTo>
                <a:lnTo>
                  <a:pt x="689974"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0" id="10"/>
          <p:cNvSpPr/>
          <p:nvPr/>
        </p:nvSpPr>
        <p:spPr>
          <a:xfrm flipH="false" flipV="false" rot="1993793">
            <a:off x="-768159" y="7083560"/>
            <a:ext cx="3954369" cy="2595054"/>
          </a:xfrm>
          <a:custGeom>
            <a:avLst/>
            <a:gdLst/>
            <a:ahLst/>
            <a:cxnLst/>
            <a:rect r="r" b="b" t="t" l="l"/>
            <a:pathLst>
              <a:path h="2595054" w="3954369">
                <a:moveTo>
                  <a:pt x="0" y="0"/>
                </a:moveTo>
                <a:lnTo>
                  <a:pt x="3954369" y="0"/>
                </a:lnTo>
                <a:lnTo>
                  <a:pt x="3954369" y="2595054"/>
                </a:lnTo>
                <a:lnTo>
                  <a:pt x="0" y="259505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TextBox 11" id="11"/>
          <p:cNvSpPr txBox="true"/>
          <p:nvPr/>
        </p:nvSpPr>
        <p:spPr>
          <a:xfrm rot="0">
            <a:off x="2146858" y="1527192"/>
            <a:ext cx="7329668" cy="8341530"/>
          </a:xfrm>
          <a:prstGeom prst="rect">
            <a:avLst/>
          </a:prstGeom>
        </p:spPr>
        <p:txBody>
          <a:bodyPr anchor="t" rtlCol="false" tIns="0" lIns="0" bIns="0" rIns="0">
            <a:spAutoFit/>
          </a:bodyPr>
          <a:lstStyle/>
          <a:p>
            <a:pPr algn="l">
              <a:lnSpc>
                <a:spcPts val="4471"/>
              </a:lnSpc>
            </a:pPr>
          </a:p>
          <a:p>
            <a:pPr algn="l" marL="689518" indent="-344759" lvl="1">
              <a:lnSpc>
                <a:spcPts val="4471"/>
              </a:lnSpc>
              <a:buFont typeface="Arial"/>
              <a:buChar char="•"/>
            </a:pPr>
            <a:r>
              <a:rPr lang="en-US" sz="3193">
                <a:solidFill>
                  <a:srgbClr val="3D3B3B"/>
                </a:solidFill>
                <a:latin typeface="Nunito Sans Condensed"/>
                <a:ea typeface="Nunito Sans Condensed"/>
                <a:cs typeface="Nunito Sans Condensed"/>
                <a:sym typeface="Nunito Sans Condensed"/>
              </a:rPr>
              <a:t>Korelasi Pearson (r)</a:t>
            </a:r>
          </a:p>
          <a:p>
            <a:pPr algn="l" marL="1379037" indent="-459679" lvl="2">
              <a:lnSpc>
                <a:spcPts val="4471"/>
              </a:lnSpc>
              <a:spcBef>
                <a:spcPct val="0"/>
              </a:spcBef>
              <a:buFont typeface="Arial"/>
              <a:buChar char="⚬"/>
            </a:pPr>
            <a:r>
              <a:rPr lang="en-US" sz="3193">
                <a:solidFill>
                  <a:srgbClr val="3D3B3B"/>
                </a:solidFill>
                <a:latin typeface="Nunito Sans Condensed"/>
                <a:ea typeface="Nunito Sans Condensed"/>
                <a:cs typeface="Nunito Sans Condensed"/>
                <a:sym typeface="Nunito Sans Condensed"/>
              </a:rPr>
              <a:t>Metode Konvensional (OLS) menghasilk</a:t>
            </a:r>
            <a:r>
              <a:rPr lang="en-US" sz="3193" strike="noStrike" u="none">
                <a:solidFill>
                  <a:srgbClr val="3D3B3B"/>
                </a:solidFill>
                <a:latin typeface="Nunito Sans Condensed"/>
                <a:ea typeface="Nunito Sans Condensed"/>
                <a:cs typeface="Nunito Sans Condensed"/>
                <a:sym typeface="Nunito Sans Condensed"/>
              </a:rPr>
              <a:t>an r = 0,9481 (terlalu optimis / overestimate).</a:t>
            </a:r>
          </a:p>
          <a:p>
            <a:pPr algn="l" marL="1379037" indent="-459679" lvl="2">
              <a:lnSpc>
                <a:spcPts val="4471"/>
              </a:lnSpc>
              <a:spcBef>
                <a:spcPct val="0"/>
              </a:spcBef>
              <a:buFont typeface="Arial"/>
              <a:buChar char="⚬"/>
            </a:pPr>
            <a:r>
              <a:rPr lang="en-US" sz="3193" strike="noStrike" u="none">
                <a:solidFill>
                  <a:srgbClr val="3D3B3B"/>
                </a:solidFill>
                <a:latin typeface="Nunito Sans Condensed"/>
                <a:ea typeface="Nunito Sans Condensed"/>
                <a:cs typeface="Nunito Sans Condensed"/>
                <a:sym typeface="Nunito Sans Condensed"/>
              </a:rPr>
              <a:t>Metode Jackknife mengoreksi bias, menghasilkan r_Jack = 0,9339 (nilai yang lebih realistis).</a:t>
            </a:r>
          </a:p>
          <a:p>
            <a:pPr algn="l" marL="689518" indent="-344759" lvl="1">
              <a:lnSpc>
                <a:spcPts val="4471"/>
              </a:lnSpc>
              <a:spcBef>
                <a:spcPct val="0"/>
              </a:spcBef>
              <a:buFont typeface="Arial"/>
              <a:buChar char="•"/>
            </a:pPr>
            <a:r>
              <a:rPr lang="en-US" sz="3193" strike="noStrike" u="none">
                <a:solidFill>
                  <a:srgbClr val="3D3B3B"/>
                </a:solidFill>
                <a:latin typeface="Nunito Sans Condensed"/>
                <a:ea typeface="Nunito Sans Condensed"/>
                <a:cs typeface="Nunito Sans Condensed"/>
                <a:sym typeface="Nunito Sans Condensed"/>
              </a:rPr>
              <a:t>Estimasi Slope (b):</a:t>
            </a:r>
          </a:p>
          <a:p>
            <a:pPr algn="l" marL="1379037" indent="-459679" lvl="2">
              <a:lnSpc>
                <a:spcPts val="4471"/>
              </a:lnSpc>
              <a:spcBef>
                <a:spcPct val="0"/>
              </a:spcBef>
              <a:buFont typeface="Arial"/>
              <a:buChar char="⚬"/>
            </a:pPr>
            <a:r>
              <a:rPr lang="en-US" sz="3193" strike="noStrike" u="none">
                <a:solidFill>
                  <a:srgbClr val="3D3B3B"/>
                </a:solidFill>
                <a:latin typeface="Nunito Sans Condensed"/>
                <a:ea typeface="Nunito Sans Condensed"/>
                <a:cs typeface="Nunito Sans Condensed"/>
                <a:sym typeface="Nunito Sans Condensed"/>
              </a:rPr>
              <a:t>Estimasi regresi (6,038 vs 6,084) relatif stabil, menunjukkan parameter regresi kurang sensitif terhadap bias dibandingkan korelasi.</a:t>
            </a:r>
          </a:p>
          <a:p>
            <a:pPr algn="l">
              <a:lnSpc>
                <a:spcPts val="4471"/>
              </a:lnSpc>
              <a:spcBef>
                <a:spcPct val="0"/>
              </a:spcBef>
            </a:pPr>
          </a:p>
        </p:txBody>
      </p:sp>
      <p:sp>
        <p:nvSpPr>
          <p:cNvPr name="TextBox 12" id="12"/>
          <p:cNvSpPr txBox="true"/>
          <p:nvPr/>
        </p:nvSpPr>
        <p:spPr>
          <a:xfrm rot="0">
            <a:off x="9638451" y="1084279"/>
            <a:ext cx="6688314" cy="1251586"/>
          </a:xfrm>
          <a:prstGeom prst="rect">
            <a:avLst/>
          </a:prstGeom>
        </p:spPr>
        <p:txBody>
          <a:bodyPr anchor="t" rtlCol="false" tIns="0" lIns="0" bIns="0" rIns="0">
            <a:spAutoFit/>
          </a:bodyPr>
          <a:lstStyle/>
          <a:p>
            <a:pPr algn="l">
              <a:lnSpc>
                <a:spcPts val="5039"/>
              </a:lnSpc>
            </a:pPr>
            <a:r>
              <a:rPr lang="en-US" b="true" sz="3599">
                <a:solidFill>
                  <a:srgbClr val="3D3B3B"/>
                </a:solidFill>
                <a:latin typeface="Nunito Sans Condensed Bold"/>
                <a:ea typeface="Nunito Sans Condensed Bold"/>
                <a:cs typeface="Nunito Sans Condensed Bold"/>
                <a:sym typeface="Nunito Sans Condensed Bold"/>
              </a:rPr>
              <a:t>2. Peningkat</a:t>
            </a:r>
            <a:r>
              <a:rPr lang="en-US" b="true" sz="3599" strike="noStrike" u="none">
                <a:solidFill>
                  <a:srgbClr val="3D3B3B"/>
                </a:solidFill>
                <a:latin typeface="Nunito Sans Condensed Bold"/>
                <a:ea typeface="Nunito Sans Condensed Bold"/>
                <a:cs typeface="Nunito Sans Condensed Bold"/>
                <a:sym typeface="Nunito Sans Condensed Bold"/>
              </a:rPr>
              <a:t>an Efisiensi (Standard Error &amp; CI)</a:t>
            </a:r>
          </a:p>
        </p:txBody>
      </p:sp>
      <p:sp>
        <p:nvSpPr>
          <p:cNvPr name="TextBox 13" id="13"/>
          <p:cNvSpPr txBox="true"/>
          <p:nvPr/>
        </p:nvSpPr>
        <p:spPr>
          <a:xfrm rot="0">
            <a:off x="9177510" y="2391906"/>
            <a:ext cx="6900797" cy="7673660"/>
          </a:xfrm>
          <a:prstGeom prst="rect">
            <a:avLst/>
          </a:prstGeom>
        </p:spPr>
        <p:txBody>
          <a:bodyPr anchor="t" rtlCol="false" tIns="0" lIns="0" bIns="0" rIns="0">
            <a:spAutoFit/>
          </a:bodyPr>
          <a:lstStyle/>
          <a:p>
            <a:pPr algn="l" marL="586264" indent="-293132" lvl="1">
              <a:lnSpc>
                <a:spcPts val="3801"/>
              </a:lnSpc>
              <a:buFont typeface="Arial"/>
              <a:buChar char="•"/>
            </a:pPr>
            <a:r>
              <a:rPr lang="en-US" sz="2715">
                <a:solidFill>
                  <a:srgbClr val="3D3B3B"/>
                </a:solidFill>
                <a:latin typeface="Nunito Sans Condensed"/>
                <a:ea typeface="Nunito Sans Condensed"/>
                <a:cs typeface="Nunito Sans Condensed"/>
                <a:sym typeface="Nunito Sans Condensed"/>
              </a:rPr>
              <a:t>St</a:t>
            </a:r>
            <a:r>
              <a:rPr lang="en-US" sz="2715">
                <a:solidFill>
                  <a:srgbClr val="3D3B3B"/>
                </a:solidFill>
                <a:latin typeface="Nunito Sans Condensed"/>
                <a:ea typeface="Nunito Sans Condensed"/>
                <a:cs typeface="Nunito Sans Condensed"/>
                <a:sym typeface="Nunito Sans Condensed"/>
              </a:rPr>
              <a:t>andard Error (SE):</a:t>
            </a:r>
          </a:p>
          <a:p>
            <a:pPr algn="l" marL="1172528" indent="-390843" lvl="2">
              <a:lnSpc>
                <a:spcPts val="3801"/>
              </a:lnSpc>
              <a:spcBef>
                <a:spcPct val="0"/>
              </a:spcBef>
              <a:buFont typeface="Arial"/>
              <a:buChar char="⚬"/>
            </a:pPr>
            <a:r>
              <a:rPr lang="en-US" sz="2715">
                <a:solidFill>
                  <a:srgbClr val="3D3B3B"/>
                </a:solidFill>
                <a:latin typeface="Nunito Sans Condensed"/>
                <a:ea typeface="Nunito Sans Condensed"/>
                <a:cs typeface="Nunito Sans Condensed"/>
                <a:sym typeface="Nunito Sans Condensed"/>
              </a:rPr>
              <a:t>SE</a:t>
            </a:r>
            <a:r>
              <a:rPr lang="en-US" sz="2715">
                <a:solidFill>
                  <a:srgbClr val="3D3B3B"/>
                </a:solidFill>
                <a:latin typeface="Nunito Sans Condensed"/>
                <a:ea typeface="Nunito Sans Condensed"/>
                <a:cs typeface="Nunito Sans Condensed"/>
                <a:sym typeface="Nunito Sans Condensed"/>
              </a:rPr>
              <a:t>Jack</a:t>
            </a:r>
            <a:r>
              <a:rPr lang="en-US" sz="2715">
                <a:solidFill>
                  <a:srgbClr val="3D3B3B"/>
                </a:solidFill>
                <a:latin typeface="Nunito Sans Condensed"/>
                <a:ea typeface="Nunito Sans Condensed"/>
                <a:cs typeface="Nunito Sans Condensed"/>
                <a:sym typeface="Nunito Sans Condensed"/>
              </a:rPr>
              <a:t> = 0,0245 lebih kecil daripad</a:t>
            </a:r>
            <a:r>
              <a:rPr lang="en-US" sz="2715">
                <a:solidFill>
                  <a:srgbClr val="3D3B3B"/>
                </a:solidFill>
                <a:latin typeface="Nunito Sans Condensed"/>
                <a:ea typeface="Nunito Sans Condensed"/>
                <a:cs typeface="Nunito Sans Condensed"/>
                <a:sym typeface="Nunito Sans Condensed"/>
              </a:rPr>
              <a:t>a </a:t>
            </a:r>
            <a:r>
              <a:rPr lang="en-US" sz="2715" strike="noStrike" u="none">
                <a:solidFill>
                  <a:srgbClr val="3D3B3B"/>
                </a:solidFill>
                <a:latin typeface="Nunito Sans Condensed"/>
                <a:ea typeface="Nunito Sans Condensed"/>
                <a:cs typeface="Nunito Sans Condensed"/>
                <a:sym typeface="Nunito Sans Condensed"/>
              </a:rPr>
              <a:t>SE</a:t>
            </a:r>
            <a:r>
              <a:rPr lang="en-US" sz="2715" strike="noStrike" u="none">
                <a:solidFill>
                  <a:srgbClr val="3D3B3B"/>
                </a:solidFill>
                <a:latin typeface="Nunito Sans Condensed"/>
                <a:ea typeface="Nunito Sans Condensed"/>
                <a:cs typeface="Nunito Sans Condensed"/>
                <a:sym typeface="Nunito Sans Condensed"/>
              </a:rPr>
              <a:t>OLS</a:t>
            </a:r>
            <a:r>
              <a:rPr lang="en-US" sz="2715">
                <a:solidFill>
                  <a:srgbClr val="3D3B3B"/>
                </a:solidFill>
                <a:latin typeface="Nunito Sans Condensed"/>
                <a:ea typeface="Nunito Sans Condensed"/>
                <a:cs typeface="Nunito Sans Condensed"/>
                <a:sym typeface="Nunito Sans Condensed"/>
              </a:rPr>
              <a:t> </a:t>
            </a:r>
            <a:r>
              <a:rPr lang="en-US" sz="2715">
                <a:solidFill>
                  <a:srgbClr val="3D3B3B"/>
                </a:solidFill>
                <a:latin typeface="Nunito Sans Condensed"/>
                <a:ea typeface="Nunito Sans Condensed"/>
                <a:cs typeface="Nunito Sans Condensed"/>
                <a:sym typeface="Nunito Sans Condensed"/>
              </a:rPr>
              <a:t>= 0,</a:t>
            </a:r>
            <a:r>
              <a:rPr lang="en-US" sz="2715" strike="noStrike" u="none">
                <a:solidFill>
                  <a:srgbClr val="3D3B3B"/>
                </a:solidFill>
                <a:latin typeface="Nunito Sans Condensed"/>
                <a:ea typeface="Nunito Sans Condensed"/>
                <a:cs typeface="Nunito Sans Condensed"/>
                <a:sym typeface="Nunito Sans Condensed"/>
              </a:rPr>
              <a:t>026</a:t>
            </a:r>
            <a:r>
              <a:rPr lang="en-US" sz="2715">
                <a:solidFill>
                  <a:srgbClr val="3D3B3B"/>
                </a:solidFill>
                <a:latin typeface="Nunito Sans Condensed"/>
                <a:ea typeface="Nunito Sans Condensed"/>
                <a:cs typeface="Nunito Sans Condensed"/>
                <a:sym typeface="Nunito Sans Condensed"/>
              </a:rPr>
              <a:t>1.</a:t>
            </a:r>
          </a:p>
          <a:p>
            <a:pPr algn="l" marL="1172528" indent="-390843" lvl="2">
              <a:lnSpc>
                <a:spcPts val="3801"/>
              </a:lnSpc>
              <a:spcBef>
                <a:spcPct val="0"/>
              </a:spcBef>
              <a:buFont typeface="Arial"/>
              <a:buChar char="⚬"/>
            </a:pPr>
            <a:r>
              <a:rPr lang="en-US" sz="2715" strike="noStrike" u="none">
                <a:solidFill>
                  <a:srgbClr val="3D3B3B"/>
                </a:solidFill>
                <a:latin typeface="Nunito Sans Condensed"/>
                <a:ea typeface="Nunito Sans Condensed"/>
                <a:cs typeface="Nunito Sans Condensed"/>
                <a:sym typeface="Nunito Sans Condensed"/>
              </a:rPr>
              <a:t>Imp</a:t>
            </a:r>
            <a:r>
              <a:rPr lang="en-US" sz="2715">
                <a:solidFill>
                  <a:srgbClr val="3D3B3B"/>
                </a:solidFill>
                <a:latin typeface="Nunito Sans Condensed"/>
                <a:ea typeface="Nunito Sans Condensed"/>
                <a:cs typeface="Nunito Sans Condensed"/>
                <a:sym typeface="Nunito Sans Condensed"/>
              </a:rPr>
              <a:t>li</a:t>
            </a:r>
            <a:r>
              <a:rPr lang="en-US" sz="2715" strike="noStrike" u="none">
                <a:solidFill>
                  <a:srgbClr val="3D3B3B"/>
                </a:solidFill>
                <a:latin typeface="Nunito Sans Condensed"/>
                <a:ea typeface="Nunito Sans Condensed"/>
                <a:cs typeface="Nunito Sans Condensed"/>
                <a:sym typeface="Nunito Sans Condensed"/>
              </a:rPr>
              <a:t>ka</a:t>
            </a:r>
            <a:r>
              <a:rPr lang="en-US" sz="2715">
                <a:solidFill>
                  <a:srgbClr val="3D3B3B"/>
                </a:solidFill>
                <a:latin typeface="Nunito Sans Condensed"/>
                <a:ea typeface="Nunito Sans Condensed"/>
                <a:cs typeface="Nunito Sans Condensed"/>
                <a:sym typeface="Nunito Sans Condensed"/>
              </a:rPr>
              <a:t>s</a:t>
            </a:r>
            <a:r>
              <a:rPr lang="en-US" sz="2715" strike="noStrike" u="none">
                <a:solidFill>
                  <a:srgbClr val="3D3B3B"/>
                </a:solidFill>
                <a:latin typeface="Nunito Sans Condensed"/>
                <a:ea typeface="Nunito Sans Condensed"/>
                <a:cs typeface="Nunito Sans Condensed"/>
                <a:sym typeface="Nunito Sans Condensed"/>
              </a:rPr>
              <a:t>i:</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P</a:t>
            </a:r>
            <a:r>
              <a:rPr lang="en-US" sz="2715">
                <a:solidFill>
                  <a:srgbClr val="3D3B3B"/>
                </a:solidFill>
                <a:latin typeface="Nunito Sans Condensed"/>
                <a:ea typeface="Nunito Sans Condensed"/>
                <a:cs typeface="Nunito Sans Condensed"/>
                <a:sym typeface="Nunito Sans Condensed"/>
              </a:rPr>
              <a:t>e</a:t>
            </a:r>
            <a:r>
              <a:rPr lang="en-US" sz="2715" strike="noStrike" u="none">
                <a:solidFill>
                  <a:srgbClr val="3D3B3B"/>
                </a:solidFill>
                <a:latin typeface="Nunito Sans Condensed"/>
                <a:ea typeface="Nunito Sans Condensed"/>
                <a:cs typeface="Nunito Sans Condensed"/>
                <a:sym typeface="Nunito Sans Condensed"/>
              </a:rPr>
              <a:t>nu</a:t>
            </a:r>
            <a:r>
              <a:rPr lang="en-US" sz="2715">
                <a:solidFill>
                  <a:srgbClr val="3D3B3B"/>
                </a:solidFill>
                <a:latin typeface="Nunito Sans Condensed"/>
                <a:ea typeface="Nunito Sans Condensed"/>
                <a:cs typeface="Nunito Sans Condensed"/>
                <a:sym typeface="Nunito Sans Condensed"/>
              </a:rPr>
              <a:t>r</a:t>
            </a:r>
            <a:r>
              <a:rPr lang="en-US" sz="2715" strike="noStrike" u="none">
                <a:solidFill>
                  <a:srgbClr val="3D3B3B"/>
                </a:solidFill>
                <a:latin typeface="Nunito Sans Condensed"/>
                <a:ea typeface="Nunito Sans Condensed"/>
                <a:cs typeface="Nunito Sans Condensed"/>
                <a:sym typeface="Nunito Sans Condensed"/>
              </a:rPr>
              <a:t>unan SE </a:t>
            </a:r>
            <a:r>
              <a:rPr lang="en-US" sz="2715">
                <a:solidFill>
                  <a:srgbClr val="3D3B3B"/>
                </a:solidFill>
                <a:latin typeface="Nunito Sans Condensed"/>
                <a:ea typeface="Nunito Sans Condensed"/>
                <a:cs typeface="Nunito Sans Condensed"/>
                <a:sym typeface="Nunito Sans Condensed"/>
              </a:rPr>
              <a:t>m</a:t>
            </a:r>
            <a:r>
              <a:rPr lang="en-US" sz="2715" strike="noStrike" u="none">
                <a:solidFill>
                  <a:srgbClr val="3D3B3B"/>
                </a:solidFill>
                <a:latin typeface="Nunito Sans Condensed"/>
                <a:ea typeface="Nunito Sans Condensed"/>
                <a:cs typeface="Nunito Sans Condensed"/>
                <a:sym typeface="Nunito Sans Condensed"/>
              </a:rPr>
              <a:t>enunjukk</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n m</a:t>
            </a:r>
            <a:r>
              <a:rPr lang="en-US" sz="2715">
                <a:solidFill>
                  <a:srgbClr val="3D3B3B"/>
                </a:solidFill>
                <a:latin typeface="Nunito Sans Condensed"/>
                <a:ea typeface="Nunito Sans Condensed"/>
                <a:cs typeface="Nunito Sans Condensed"/>
                <a:sym typeface="Nunito Sans Condensed"/>
              </a:rPr>
              <a:t>etode Jackknife </a:t>
            </a:r>
            <a:r>
              <a:rPr lang="en-US" sz="2715" strike="noStrike" u="none">
                <a:solidFill>
                  <a:srgbClr val="3D3B3B"/>
                </a:solidFill>
                <a:latin typeface="Nunito Sans Condensed"/>
                <a:ea typeface="Nunito Sans Condensed"/>
                <a:cs typeface="Nunito Sans Condensed"/>
                <a:sym typeface="Nunito Sans Condensed"/>
              </a:rPr>
              <a:t>l</a:t>
            </a:r>
            <a:r>
              <a:rPr lang="en-US" sz="2715">
                <a:solidFill>
                  <a:srgbClr val="3D3B3B"/>
                </a:solidFill>
                <a:latin typeface="Nunito Sans Condensed"/>
                <a:ea typeface="Nunito Sans Condensed"/>
                <a:cs typeface="Nunito Sans Condensed"/>
                <a:sym typeface="Nunito Sans Condensed"/>
              </a:rPr>
              <a:t>e</a:t>
            </a:r>
            <a:r>
              <a:rPr lang="en-US" sz="2715" strike="noStrike" u="none">
                <a:solidFill>
                  <a:srgbClr val="3D3B3B"/>
                </a:solidFill>
                <a:latin typeface="Nunito Sans Condensed"/>
                <a:ea typeface="Nunito Sans Condensed"/>
                <a:cs typeface="Nunito Sans Condensed"/>
                <a:sym typeface="Nunito Sans Condensed"/>
              </a:rPr>
              <a:t>bih </a:t>
            </a:r>
            <a:r>
              <a:rPr lang="en-US" sz="2715">
                <a:solidFill>
                  <a:srgbClr val="3D3B3B"/>
                </a:solidFill>
                <a:latin typeface="Nunito Sans Condensed"/>
                <a:ea typeface="Nunito Sans Condensed"/>
                <a:cs typeface="Nunito Sans Condensed"/>
                <a:sym typeface="Nunito Sans Condensed"/>
              </a:rPr>
              <a:t>e</a:t>
            </a:r>
            <a:r>
              <a:rPr lang="en-US" sz="2715" strike="noStrike" u="none">
                <a:solidFill>
                  <a:srgbClr val="3D3B3B"/>
                </a:solidFill>
                <a:latin typeface="Nunito Sans Condensed"/>
                <a:ea typeface="Nunito Sans Condensed"/>
                <a:cs typeface="Nunito Sans Condensed"/>
                <a:sym typeface="Nunito Sans Condensed"/>
              </a:rPr>
              <a:t>fi</a:t>
            </a:r>
            <a:r>
              <a:rPr lang="en-US" sz="2715">
                <a:solidFill>
                  <a:srgbClr val="3D3B3B"/>
                </a:solidFill>
                <a:latin typeface="Nunito Sans Condensed"/>
                <a:ea typeface="Nunito Sans Condensed"/>
                <a:cs typeface="Nunito Sans Condensed"/>
                <a:sym typeface="Nunito Sans Condensed"/>
              </a:rPr>
              <a:t>si</a:t>
            </a:r>
            <a:r>
              <a:rPr lang="en-US" sz="2715" strike="noStrike" u="none">
                <a:solidFill>
                  <a:srgbClr val="3D3B3B"/>
                </a:solidFill>
                <a:latin typeface="Nunito Sans Condensed"/>
                <a:ea typeface="Nunito Sans Condensed"/>
                <a:cs typeface="Nunito Sans Condensed"/>
                <a:sym typeface="Nunito Sans Condensed"/>
              </a:rPr>
              <a:t>en</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d</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n</a:t>
            </a:r>
            <a:r>
              <a:rPr lang="en-US" sz="2715">
                <a:solidFill>
                  <a:srgbClr val="3D3B3B"/>
                </a:solidFill>
                <a:latin typeface="Nunito Sans Condensed"/>
                <a:ea typeface="Nunito Sans Condensed"/>
                <a:cs typeface="Nunito Sans Condensed"/>
                <a:sym typeface="Nunito Sans Condensed"/>
              </a:rPr>
              <a:t> menghasilkan </a:t>
            </a:r>
            <a:r>
              <a:rPr lang="en-US" sz="2715" strike="noStrike" u="none">
                <a:solidFill>
                  <a:srgbClr val="3D3B3B"/>
                </a:solidFill>
                <a:latin typeface="Nunito Sans Condensed"/>
                <a:ea typeface="Nunito Sans Condensed"/>
                <a:cs typeface="Nunito Sans Condensed"/>
                <a:sym typeface="Nunito Sans Condensed"/>
              </a:rPr>
              <a:t>est</a:t>
            </a:r>
            <a:r>
              <a:rPr lang="en-US" sz="2715">
                <a:solidFill>
                  <a:srgbClr val="3D3B3B"/>
                </a:solidFill>
                <a:latin typeface="Nunito Sans Condensed"/>
                <a:ea typeface="Nunito Sans Condensed"/>
                <a:cs typeface="Nunito Sans Condensed"/>
                <a:sym typeface="Nunito Sans Condensed"/>
              </a:rPr>
              <a:t>i</a:t>
            </a:r>
            <a:r>
              <a:rPr lang="en-US" sz="2715" strike="noStrike" u="none">
                <a:solidFill>
                  <a:srgbClr val="3D3B3B"/>
                </a:solidFill>
                <a:latin typeface="Nunito Sans Condensed"/>
                <a:ea typeface="Nunito Sans Condensed"/>
                <a:cs typeface="Nunito Sans Condensed"/>
                <a:sym typeface="Nunito Sans Condensed"/>
              </a:rPr>
              <a:t>m</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s</a:t>
            </a:r>
            <a:r>
              <a:rPr lang="en-US" sz="2715">
                <a:solidFill>
                  <a:srgbClr val="3D3B3B"/>
                </a:solidFill>
                <a:latin typeface="Nunito Sans Condensed"/>
                <a:ea typeface="Nunito Sans Condensed"/>
                <a:cs typeface="Nunito Sans Condensed"/>
                <a:sym typeface="Nunito Sans Condensed"/>
              </a:rPr>
              <a:t>i yang lebih </a:t>
            </a:r>
            <a:r>
              <a:rPr lang="en-US" sz="2715" strike="noStrike" u="none">
                <a:solidFill>
                  <a:srgbClr val="3D3B3B"/>
                </a:solidFill>
                <a:latin typeface="Nunito Sans Condensed"/>
                <a:ea typeface="Nunito Sans Condensed"/>
                <a:cs typeface="Nunito Sans Condensed"/>
                <a:sym typeface="Nunito Sans Condensed"/>
              </a:rPr>
              <a:t>p</a:t>
            </a:r>
            <a:r>
              <a:rPr lang="en-US" sz="2715">
                <a:solidFill>
                  <a:srgbClr val="3D3B3B"/>
                </a:solidFill>
                <a:latin typeface="Nunito Sans Condensed"/>
                <a:ea typeface="Nunito Sans Condensed"/>
                <a:cs typeface="Nunito Sans Condensed"/>
                <a:sym typeface="Nunito Sans Condensed"/>
              </a:rPr>
              <a:t>re</a:t>
            </a:r>
            <a:r>
              <a:rPr lang="en-US" sz="2715" strike="noStrike" u="none">
                <a:solidFill>
                  <a:srgbClr val="3D3B3B"/>
                </a:solidFill>
                <a:latin typeface="Nunito Sans Condensed"/>
                <a:ea typeface="Nunito Sans Condensed"/>
                <a:cs typeface="Nunito Sans Condensed"/>
                <a:sym typeface="Nunito Sans Condensed"/>
              </a:rPr>
              <a:t>s</a:t>
            </a:r>
            <a:r>
              <a:rPr lang="en-US" sz="2715">
                <a:solidFill>
                  <a:srgbClr val="3D3B3B"/>
                </a:solidFill>
                <a:latin typeface="Nunito Sans Condensed"/>
                <a:ea typeface="Nunito Sans Condensed"/>
                <a:cs typeface="Nunito Sans Condensed"/>
                <a:sym typeface="Nunito Sans Condensed"/>
              </a:rPr>
              <a:t>isi.</a:t>
            </a:r>
          </a:p>
          <a:p>
            <a:pPr algn="l" marL="586264" indent="-293132" lvl="1">
              <a:lnSpc>
                <a:spcPts val="3801"/>
              </a:lnSpc>
              <a:spcBef>
                <a:spcPct val="0"/>
              </a:spcBef>
              <a:buFont typeface="Arial"/>
              <a:buChar char="•"/>
            </a:pPr>
            <a:r>
              <a:rPr lang="en-US" sz="2715" strike="noStrike" u="none">
                <a:solidFill>
                  <a:srgbClr val="3D3B3B"/>
                </a:solidFill>
                <a:latin typeface="Nunito Sans Condensed"/>
                <a:ea typeface="Nunito Sans Condensed"/>
                <a:cs typeface="Nunito Sans Condensed"/>
                <a:sym typeface="Nunito Sans Condensed"/>
              </a:rPr>
              <a:t>Sel</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ng</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Ke</a:t>
            </a:r>
            <a:r>
              <a:rPr lang="en-US" sz="2715">
                <a:solidFill>
                  <a:srgbClr val="3D3B3B"/>
                </a:solidFill>
                <a:latin typeface="Nunito Sans Condensed"/>
                <a:ea typeface="Nunito Sans Condensed"/>
                <a:cs typeface="Nunito Sans Condensed"/>
                <a:sym typeface="Nunito Sans Condensed"/>
              </a:rPr>
              <a:t>pe</a:t>
            </a:r>
            <a:r>
              <a:rPr lang="en-US" sz="2715" strike="noStrike" u="none">
                <a:solidFill>
                  <a:srgbClr val="3D3B3B"/>
                </a:solidFill>
                <a:latin typeface="Nunito Sans Condensed"/>
                <a:ea typeface="Nunito Sans Condensed"/>
                <a:cs typeface="Nunito Sans Condensed"/>
                <a:sym typeface="Nunito Sans Condensed"/>
              </a:rPr>
              <a:t>rcayaan</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CI</a:t>
            </a:r>
            <a:r>
              <a:rPr lang="en-US" sz="2715">
                <a:solidFill>
                  <a:srgbClr val="3D3B3B"/>
                </a:solidFill>
                <a:latin typeface="Nunito Sans Condensed"/>
                <a:ea typeface="Nunito Sans Condensed"/>
                <a:cs typeface="Nunito Sans Condensed"/>
                <a:sym typeface="Nunito Sans Condensed"/>
              </a:rPr>
              <a:t>)</a:t>
            </a:r>
            <a:r>
              <a:rPr lang="en-US" sz="2715" strike="noStrike" u="none">
                <a:solidFill>
                  <a:srgbClr val="3D3B3B"/>
                </a:solidFill>
                <a:latin typeface="Nunito Sans Condensed"/>
                <a:ea typeface="Nunito Sans Condensed"/>
                <a:cs typeface="Nunito Sans Condensed"/>
                <a:sym typeface="Nunito Sans Condensed"/>
              </a:rPr>
              <a:t> 95%</a:t>
            </a:r>
            <a:r>
              <a:rPr lang="en-US" sz="2715">
                <a:solidFill>
                  <a:srgbClr val="3D3B3B"/>
                </a:solidFill>
                <a:latin typeface="Nunito Sans Condensed"/>
                <a:ea typeface="Nunito Sans Condensed"/>
                <a:cs typeface="Nunito Sans Condensed"/>
                <a:sym typeface="Nunito Sans Condensed"/>
              </a:rPr>
              <a:t>:</a:t>
            </a:r>
          </a:p>
          <a:p>
            <a:pPr algn="l" marL="1172528" indent="-390843" lvl="2">
              <a:lnSpc>
                <a:spcPts val="3801"/>
              </a:lnSpc>
              <a:spcBef>
                <a:spcPct val="0"/>
              </a:spcBef>
              <a:buFont typeface="Arial"/>
              <a:buChar char="⚬"/>
            </a:pPr>
            <a:r>
              <a:rPr lang="en-US" sz="2715" strike="noStrike" u="none">
                <a:solidFill>
                  <a:srgbClr val="3D3B3B"/>
                </a:solidFill>
                <a:latin typeface="Nunito Sans Condensed"/>
                <a:ea typeface="Nunito Sans Condensed"/>
                <a:cs typeface="Nunito Sans Condensed"/>
                <a:sym typeface="Nunito Sans Condensed"/>
              </a:rPr>
              <a:t>CI</a:t>
            </a:r>
            <a:r>
              <a:rPr lang="en-US" sz="2715" strike="noStrike" u="none">
                <a:solidFill>
                  <a:srgbClr val="3D3B3B"/>
                </a:solidFill>
                <a:latin typeface="Nunito Sans Condensed"/>
                <a:ea typeface="Nunito Sans Condensed"/>
                <a:cs typeface="Nunito Sans Condensed"/>
                <a:sym typeface="Nunito Sans Condensed"/>
              </a:rPr>
              <a:t>Jack</a:t>
            </a:r>
            <a:r>
              <a:rPr lang="en-US" sz="2715" strike="noStrike" u="none">
                <a:solidFill>
                  <a:srgbClr val="3D3B3B"/>
                </a:solidFill>
                <a:latin typeface="Nunito Sans Condensed"/>
                <a:ea typeface="Nunito Sans Condensed"/>
                <a:cs typeface="Nunito Sans Condensed"/>
                <a:sym typeface="Nunito Sans Condensed"/>
              </a:rPr>
              <a:t> = 0,886 – 0,982 lebih </a:t>
            </a:r>
            <a:r>
              <a:rPr lang="en-US" sz="2715">
                <a:solidFill>
                  <a:srgbClr val="3D3B3B"/>
                </a:solidFill>
                <a:latin typeface="Nunito Sans Condensed"/>
                <a:ea typeface="Nunito Sans Condensed"/>
                <a:cs typeface="Nunito Sans Condensed"/>
                <a:sym typeface="Nunito Sans Condensed"/>
              </a:rPr>
              <a:t>s</a:t>
            </a:r>
            <a:r>
              <a:rPr lang="en-US" sz="2715" strike="noStrike" u="none">
                <a:solidFill>
                  <a:srgbClr val="3D3B3B"/>
                </a:solidFill>
                <a:latin typeface="Nunito Sans Condensed"/>
                <a:ea typeface="Nunito Sans Condensed"/>
                <a:cs typeface="Nunito Sans Condensed"/>
                <a:sym typeface="Nunito Sans Condensed"/>
              </a:rPr>
              <a:t>empi</a:t>
            </a:r>
            <a:r>
              <a:rPr lang="en-US" sz="2715">
                <a:solidFill>
                  <a:srgbClr val="3D3B3B"/>
                </a:solidFill>
                <a:latin typeface="Nunito Sans Condensed"/>
                <a:ea typeface="Nunito Sans Condensed"/>
                <a:cs typeface="Nunito Sans Condensed"/>
                <a:sym typeface="Nunito Sans Condensed"/>
              </a:rPr>
              <a:t>t</a:t>
            </a:r>
            <a:r>
              <a:rPr lang="en-US" sz="2715" strike="noStrike" u="none">
                <a:solidFill>
                  <a:srgbClr val="3D3B3B"/>
                </a:solidFill>
                <a:latin typeface="Nunito Sans Condensed"/>
                <a:ea typeface="Nunito Sans Condensed"/>
                <a:cs typeface="Nunito Sans Condensed"/>
                <a:sym typeface="Nunito Sans Condensed"/>
              </a:rPr>
              <a:t> dan mem</a:t>
            </a:r>
            <a:r>
              <a:rPr lang="en-US" sz="2715">
                <a:solidFill>
                  <a:srgbClr val="3D3B3B"/>
                </a:solidFill>
                <a:latin typeface="Nunito Sans Condensed"/>
                <a:ea typeface="Nunito Sans Condensed"/>
                <a:cs typeface="Nunito Sans Condensed"/>
                <a:sym typeface="Nunito Sans Condensed"/>
              </a:rPr>
              <a:t>i</a:t>
            </a:r>
            <a:r>
              <a:rPr lang="en-US" sz="2715" strike="noStrike" u="none">
                <a:solidFill>
                  <a:srgbClr val="3D3B3B"/>
                </a:solidFill>
                <a:latin typeface="Nunito Sans Condensed"/>
                <a:ea typeface="Nunito Sans Condensed"/>
                <a:cs typeface="Nunito Sans Condensed"/>
                <a:sym typeface="Nunito Sans Condensed"/>
              </a:rPr>
              <a:t>liki bat</a:t>
            </a:r>
            <a:r>
              <a:rPr lang="en-US" sz="2715">
                <a:solidFill>
                  <a:srgbClr val="3D3B3B"/>
                </a:solidFill>
                <a:latin typeface="Nunito Sans Condensed"/>
                <a:ea typeface="Nunito Sans Condensed"/>
                <a:cs typeface="Nunito Sans Condensed"/>
                <a:sym typeface="Nunito Sans Condensed"/>
              </a:rPr>
              <a:t>as </a:t>
            </a:r>
            <a:r>
              <a:rPr lang="en-US" sz="2715" strike="noStrike" u="none">
                <a:solidFill>
                  <a:srgbClr val="3D3B3B"/>
                </a:solidFill>
                <a:latin typeface="Nunito Sans Condensed"/>
                <a:ea typeface="Nunito Sans Condensed"/>
                <a:cs typeface="Nunito Sans Condensed"/>
                <a:sym typeface="Nunito Sans Condensed"/>
              </a:rPr>
              <a:t>bawah yang l</a:t>
            </a:r>
            <a:r>
              <a:rPr lang="en-US" sz="2715">
                <a:solidFill>
                  <a:srgbClr val="3D3B3B"/>
                </a:solidFill>
                <a:latin typeface="Nunito Sans Condensed"/>
                <a:ea typeface="Nunito Sans Condensed"/>
                <a:cs typeface="Nunito Sans Condensed"/>
                <a:sym typeface="Nunito Sans Condensed"/>
              </a:rPr>
              <a:t>e</a:t>
            </a:r>
            <a:r>
              <a:rPr lang="en-US" sz="2715" strike="noStrike" u="none">
                <a:solidFill>
                  <a:srgbClr val="3D3B3B"/>
                </a:solidFill>
                <a:latin typeface="Nunito Sans Condensed"/>
                <a:ea typeface="Nunito Sans Condensed"/>
                <a:cs typeface="Nunito Sans Condensed"/>
                <a:sym typeface="Nunito Sans Condensed"/>
              </a:rPr>
              <a:t>bih tin</a:t>
            </a:r>
            <a:r>
              <a:rPr lang="en-US" sz="2715">
                <a:solidFill>
                  <a:srgbClr val="3D3B3B"/>
                </a:solidFill>
                <a:latin typeface="Nunito Sans Condensed"/>
                <a:ea typeface="Nunito Sans Condensed"/>
                <a:cs typeface="Nunito Sans Condensed"/>
                <a:sym typeface="Nunito Sans Condensed"/>
              </a:rPr>
              <a:t>g</a:t>
            </a:r>
            <a:r>
              <a:rPr lang="en-US" sz="2715" strike="noStrike" u="none">
                <a:solidFill>
                  <a:srgbClr val="3D3B3B"/>
                </a:solidFill>
                <a:latin typeface="Nunito Sans Condensed"/>
                <a:ea typeface="Nunito Sans Condensed"/>
                <a:cs typeface="Nunito Sans Condensed"/>
                <a:sym typeface="Nunito Sans Condensed"/>
              </a:rPr>
              <a:t>gi da</a:t>
            </a:r>
            <a:r>
              <a:rPr lang="en-US" sz="2715">
                <a:solidFill>
                  <a:srgbClr val="3D3B3B"/>
                </a:solidFill>
                <a:latin typeface="Nunito Sans Condensed"/>
                <a:ea typeface="Nunito Sans Condensed"/>
                <a:cs typeface="Nunito Sans Condensed"/>
                <a:sym typeface="Nunito Sans Condensed"/>
              </a:rPr>
              <a:t>ri</a:t>
            </a:r>
            <a:r>
              <a:rPr lang="en-US" sz="2715" strike="noStrike" u="none">
                <a:solidFill>
                  <a:srgbClr val="3D3B3B"/>
                </a:solidFill>
                <a:latin typeface="Nunito Sans Condensed"/>
                <a:ea typeface="Nunito Sans Condensed"/>
                <a:cs typeface="Nunito Sans Condensed"/>
                <a:sym typeface="Nunito Sans Condensed"/>
              </a:rPr>
              <a:t>pada</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CI</a:t>
            </a:r>
            <a:r>
              <a:rPr lang="en-US" sz="2715" strike="noStrike" u="none">
                <a:solidFill>
                  <a:srgbClr val="3D3B3B"/>
                </a:solidFill>
                <a:latin typeface="Nunito Sans Condensed"/>
                <a:ea typeface="Nunito Sans Condensed"/>
                <a:cs typeface="Nunito Sans Condensed"/>
                <a:sym typeface="Nunito Sans Condensed"/>
              </a:rPr>
              <a:t>OLS</a:t>
            </a:r>
            <a:r>
              <a:rPr lang="en-US" sz="2715" strike="noStrike" u="none">
                <a:solidFill>
                  <a:srgbClr val="3D3B3B"/>
                </a:solidFill>
                <a:latin typeface="Nunito Sans Condensed"/>
                <a:ea typeface="Nunito Sans Condensed"/>
                <a:cs typeface="Nunito Sans Condensed"/>
                <a:sym typeface="Nunito Sans Condensed"/>
              </a:rPr>
              <a:t> = [0</a:t>
            </a:r>
            <a:r>
              <a:rPr lang="en-US" sz="2715">
                <a:solidFill>
                  <a:srgbClr val="3D3B3B"/>
                </a:solidFill>
                <a:latin typeface="Nunito Sans Condensed"/>
                <a:ea typeface="Nunito Sans Condensed"/>
                <a:cs typeface="Nunito Sans Condensed"/>
                <a:sym typeface="Nunito Sans Condensed"/>
              </a:rPr>
              <a:t>,8</a:t>
            </a:r>
            <a:r>
              <a:rPr lang="en-US" sz="2715" strike="noStrike" u="none">
                <a:solidFill>
                  <a:srgbClr val="3D3B3B"/>
                </a:solidFill>
                <a:latin typeface="Nunito Sans Condensed"/>
                <a:ea typeface="Nunito Sans Condensed"/>
                <a:cs typeface="Nunito Sans Condensed"/>
                <a:sym typeface="Nunito Sans Condensed"/>
              </a:rPr>
              <a:t>47</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0</a:t>
            </a:r>
            <a:r>
              <a:rPr lang="en-US" sz="2715">
                <a:solidFill>
                  <a:srgbClr val="3D3B3B"/>
                </a:solidFill>
                <a:latin typeface="Nunito Sans Condensed"/>
                <a:ea typeface="Nunito Sans Condensed"/>
                <a:cs typeface="Nunito Sans Condensed"/>
                <a:sym typeface="Nunito Sans Condensed"/>
              </a:rPr>
              <a:t>,</a:t>
            </a:r>
            <a:r>
              <a:rPr lang="en-US" sz="2715" strike="noStrike" u="none">
                <a:solidFill>
                  <a:srgbClr val="3D3B3B"/>
                </a:solidFill>
                <a:latin typeface="Nunito Sans Condensed"/>
                <a:ea typeface="Nunito Sans Condensed"/>
                <a:cs typeface="Nunito Sans Condensed"/>
                <a:sym typeface="Nunito Sans Condensed"/>
              </a:rPr>
              <a:t>9</a:t>
            </a:r>
            <a:r>
              <a:rPr lang="en-US" sz="2715">
                <a:solidFill>
                  <a:srgbClr val="3D3B3B"/>
                </a:solidFill>
                <a:latin typeface="Nunito Sans Condensed"/>
                <a:ea typeface="Nunito Sans Condensed"/>
                <a:cs typeface="Nunito Sans Condensed"/>
                <a:sym typeface="Nunito Sans Condensed"/>
              </a:rPr>
              <a:t>8</a:t>
            </a:r>
            <a:r>
              <a:rPr lang="en-US" sz="2715" strike="noStrike" u="none">
                <a:solidFill>
                  <a:srgbClr val="3D3B3B"/>
                </a:solidFill>
                <a:latin typeface="Nunito Sans Condensed"/>
                <a:ea typeface="Nunito Sans Condensed"/>
                <a:cs typeface="Nunito Sans Condensed"/>
                <a:sym typeface="Nunito Sans Condensed"/>
              </a:rPr>
              <a:t>3].</a:t>
            </a:r>
          </a:p>
          <a:p>
            <a:pPr algn="l" marL="1172528" indent="-390843" lvl="2">
              <a:lnSpc>
                <a:spcPts val="3801"/>
              </a:lnSpc>
              <a:spcBef>
                <a:spcPct val="0"/>
              </a:spcBef>
              <a:buFont typeface="Arial"/>
              <a:buChar char="⚬"/>
            </a:pPr>
            <a:r>
              <a:rPr lang="en-US" sz="2715" strike="noStrike" u="none">
                <a:solidFill>
                  <a:srgbClr val="3D3B3B"/>
                </a:solidFill>
                <a:latin typeface="Nunito Sans Condensed"/>
                <a:ea typeface="Nunito Sans Condensed"/>
                <a:cs typeface="Nunito Sans Condensed"/>
                <a:sym typeface="Nunito Sans Condensed"/>
              </a:rPr>
              <a:t>Imp</a:t>
            </a:r>
            <a:r>
              <a:rPr lang="en-US" sz="2715">
                <a:solidFill>
                  <a:srgbClr val="3D3B3B"/>
                </a:solidFill>
                <a:latin typeface="Nunito Sans Condensed"/>
                <a:ea typeface="Nunito Sans Condensed"/>
                <a:cs typeface="Nunito Sans Condensed"/>
                <a:sym typeface="Nunito Sans Condensed"/>
              </a:rPr>
              <a:t>l</a:t>
            </a:r>
            <a:r>
              <a:rPr lang="en-US" sz="2715" strike="noStrike" u="none">
                <a:solidFill>
                  <a:srgbClr val="3D3B3B"/>
                </a:solidFill>
                <a:latin typeface="Nunito Sans Condensed"/>
                <a:ea typeface="Nunito Sans Condensed"/>
                <a:cs typeface="Nunito Sans Condensed"/>
                <a:sym typeface="Nunito Sans Condensed"/>
              </a:rPr>
              <a:t>ik</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s</a:t>
            </a:r>
            <a:r>
              <a:rPr lang="en-US" sz="2715">
                <a:solidFill>
                  <a:srgbClr val="3D3B3B"/>
                </a:solidFill>
                <a:latin typeface="Nunito Sans Condensed"/>
                <a:ea typeface="Nunito Sans Condensed"/>
                <a:cs typeface="Nunito Sans Condensed"/>
                <a:sym typeface="Nunito Sans Condensed"/>
              </a:rPr>
              <a:t>i</a:t>
            </a:r>
            <a:r>
              <a:rPr lang="en-US" sz="2715" strike="noStrike" u="none">
                <a:solidFill>
                  <a:srgbClr val="3D3B3B"/>
                </a:solidFill>
                <a:latin typeface="Nunito Sans Condensed"/>
                <a:ea typeface="Nunito Sans Condensed"/>
                <a:cs typeface="Nunito Sans Condensed"/>
                <a:sym typeface="Nunito Sans Condensed"/>
              </a:rPr>
              <a:t>:</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J</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ckkn</a:t>
            </a:r>
            <a:r>
              <a:rPr lang="en-US" sz="2715">
                <a:solidFill>
                  <a:srgbClr val="3D3B3B"/>
                </a:solidFill>
                <a:latin typeface="Nunito Sans Condensed"/>
                <a:ea typeface="Nunito Sans Condensed"/>
                <a:cs typeface="Nunito Sans Condensed"/>
                <a:sym typeface="Nunito Sans Condensed"/>
              </a:rPr>
              <a:t>i</a:t>
            </a:r>
            <a:r>
              <a:rPr lang="en-US" sz="2715" strike="noStrike" u="none">
                <a:solidFill>
                  <a:srgbClr val="3D3B3B"/>
                </a:solidFill>
                <a:latin typeface="Nunito Sans Condensed"/>
                <a:ea typeface="Nunito Sans Condensed"/>
                <a:cs typeface="Nunito Sans Condensed"/>
                <a:sym typeface="Nunito Sans Condensed"/>
              </a:rPr>
              <a:t>fe</a:t>
            </a:r>
            <a:r>
              <a:rPr lang="en-US" sz="2715">
                <a:solidFill>
                  <a:srgbClr val="3D3B3B"/>
                </a:solidFill>
                <a:latin typeface="Nunito Sans Condensed"/>
                <a:ea typeface="Nunito Sans Condensed"/>
                <a:cs typeface="Nunito Sans Condensed"/>
                <a:sym typeface="Nunito Sans Condensed"/>
              </a:rPr>
              <a:t> me</a:t>
            </a:r>
            <a:r>
              <a:rPr lang="en-US" sz="2715" strike="noStrike" u="none">
                <a:solidFill>
                  <a:srgbClr val="3D3B3B"/>
                </a:solidFill>
                <a:latin typeface="Nunito Sans Condensed"/>
                <a:ea typeface="Nunito Sans Condensed"/>
                <a:cs typeface="Nunito Sans Condensed"/>
                <a:sym typeface="Nunito Sans Condensed"/>
              </a:rPr>
              <a:t>mberika</a:t>
            </a:r>
            <a:r>
              <a:rPr lang="en-US" sz="2715">
                <a:solidFill>
                  <a:srgbClr val="3D3B3B"/>
                </a:solidFill>
                <a:latin typeface="Nunito Sans Condensed"/>
                <a:ea typeface="Nunito Sans Condensed"/>
                <a:cs typeface="Nunito Sans Condensed"/>
                <a:sym typeface="Nunito Sans Condensed"/>
              </a:rPr>
              <a:t>n</a:t>
            </a:r>
            <a:r>
              <a:rPr lang="en-US" sz="2715" strike="noStrike" u="none">
                <a:solidFill>
                  <a:srgbClr val="3D3B3B"/>
                </a:solidFill>
                <a:latin typeface="Nunito Sans Condensed"/>
                <a:ea typeface="Nunito Sans Condensed"/>
                <a:cs typeface="Nunito Sans Condensed"/>
                <a:sym typeface="Nunito Sans Condensed"/>
              </a:rPr>
              <a:t> </a:t>
            </a:r>
            <a:r>
              <a:rPr lang="en-US" sz="2715">
                <a:solidFill>
                  <a:srgbClr val="3D3B3B"/>
                </a:solidFill>
                <a:latin typeface="Nunito Sans Condensed"/>
                <a:ea typeface="Nunito Sans Condensed"/>
                <a:cs typeface="Nunito Sans Condensed"/>
                <a:sym typeface="Nunito Sans Condensed"/>
              </a:rPr>
              <a:t>k</a:t>
            </a:r>
            <a:r>
              <a:rPr lang="en-US" sz="2715" strike="noStrike" u="none">
                <a:solidFill>
                  <a:srgbClr val="3D3B3B"/>
                </a:solidFill>
                <a:latin typeface="Nunito Sans Condensed"/>
                <a:ea typeface="Nunito Sans Condensed"/>
                <a:cs typeface="Nunito Sans Condensed"/>
                <a:sym typeface="Nunito Sans Condensed"/>
              </a:rPr>
              <a:t>eya</a:t>
            </a:r>
            <a:r>
              <a:rPr lang="en-US" sz="2715">
                <a:solidFill>
                  <a:srgbClr val="3D3B3B"/>
                </a:solidFill>
                <a:latin typeface="Nunito Sans Condensed"/>
                <a:ea typeface="Nunito Sans Condensed"/>
                <a:cs typeface="Nunito Sans Condensed"/>
                <a:sym typeface="Nunito Sans Condensed"/>
              </a:rPr>
              <a:t>k</a:t>
            </a:r>
            <a:r>
              <a:rPr lang="en-US" sz="2715" strike="noStrike" u="none">
                <a:solidFill>
                  <a:srgbClr val="3D3B3B"/>
                </a:solidFill>
                <a:latin typeface="Nunito Sans Condensed"/>
                <a:ea typeface="Nunito Sans Condensed"/>
                <a:cs typeface="Nunito Sans Condensed"/>
                <a:sym typeface="Nunito Sans Condensed"/>
              </a:rPr>
              <a:t>in</a:t>
            </a:r>
            <a:r>
              <a:rPr lang="en-US" sz="2715">
                <a:solidFill>
                  <a:srgbClr val="3D3B3B"/>
                </a:solidFill>
                <a:latin typeface="Nunito Sans Condensed"/>
                <a:ea typeface="Nunito Sans Condensed"/>
                <a:cs typeface="Nunito Sans Condensed"/>
                <a:sym typeface="Nunito Sans Condensed"/>
              </a:rPr>
              <a:t>an </a:t>
            </a:r>
            <a:r>
              <a:rPr lang="en-US" sz="2715" strike="noStrike" u="none">
                <a:solidFill>
                  <a:srgbClr val="3D3B3B"/>
                </a:solidFill>
                <a:latin typeface="Nunito Sans Condensed"/>
                <a:ea typeface="Nunito Sans Condensed"/>
                <a:cs typeface="Nunito Sans Condensed"/>
                <a:sym typeface="Nunito Sans Condensed"/>
              </a:rPr>
              <a:t>st</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tistik y</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ng l</a:t>
            </a:r>
            <a:r>
              <a:rPr lang="en-US" sz="2715">
                <a:solidFill>
                  <a:srgbClr val="3D3B3B"/>
                </a:solidFill>
                <a:latin typeface="Nunito Sans Condensed"/>
                <a:ea typeface="Nunito Sans Condensed"/>
                <a:cs typeface="Nunito Sans Condensed"/>
                <a:sym typeface="Nunito Sans Condensed"/>
              </a:rPr>
              <a:t>e</a:t>
            </a:r>
            <a:r>
              <a:rPr lang="en-US" sz="2715" strike="noStrike" u="none">
                <a:solidFill>
                  <a:srgbClr val="3D3B3B"/>
                </a:solidFill>
                <a:latin typeface="Nunito Sans Condensed"/>
                <a:ea typeface="Nunito Sans Condensed"/>
                <a:cs typeface="Nunito Sans Condensed"/>
                <a:sym typeface="Nunito Sans Condensed"/>
              </a:rPr>
              <a:t>bih kua</a:t>
            </a:r>
            <a:r>
              <a:rPr lang="en-US" sz="2715">
                <a:solidFill>
                  <a:srgbClr val="3D3B3B"/>
                </a:solidFill>
                <a:latin typeface="Nunito Sans Condensed"/>
                <a:ea typeface="Nunito Sans Condensed"/>
                <a:cs typeface="Nunito Sans Condensed"/>
                <a:sym typeface="Nunito Sans Condensed"/>
              </a:rPr>
              <a:t>t</a:t>
            </a:r>
            <a:r>
              <a:rPr lang="en-US" sz="2715" strike="noStrike" u="none">
                <a:solidFill>
                  <a:srgbClr val="3D3B3B"/>
                </a:solidFill>
                <a:latin typeface="Nunito Sans Condensed"/>
                <a:ea typeface="Nunito Sans Condensed"/>
                <a:cs typeface="Nunito Sans Condensed"/>
                <a:sym typeface="Nunito Sans Condensed"/>
              </a:rPr>
              <a:t> bahwa</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ko</a:t>
            </a:r>
            <a:r>
              <a:rPr lang="en-US" sz="2715">
                <a:solidFill>
                  <a:srgbClr val="3D3B3B"/>
                </a:solidFill>
                <a:latin typeface="Nunito Sans Condensed"/>
                <a:ea typeface="Nunito Sans Condensed"/>
                <a:cs typeface="Nunito Sans Condensed"/>
                <a:sym typeface="Nunito Sans Condensed"/>
              </a:rPr>
              <a:t>re</a:t>
            </a:r>
            <a:r>
              <a:rPr lang="en-US" sz="2715" strike="noStrike" u="none">
                <a:solidFill>
                  <a:srgbClr val="3D3B3B"/>
                </a:solidFill>
                <a:latin typeface="Nunito Sans Condensed"/>
                <a:ea typeface="Nunito Sans Condensed"/>
                <a:cs typeface="Nunito Sans Condensed"/>
                <a:sym typeface="Nunito Sans Condensed"/>
              </a:rPr>
              <a:t>la</a:t>
            </a:r>
            <a:r>
              <a:rPr lang="en-US" sz="2715">
                <a:solidFill>
                  <a:srgbClr val="3D3B3B"/>
                </a:solidFill>
                <a:latin typeface="Nunito Sans Condensed"/>
                <a:ea typeface="Nunito Sans Condensed"/>
                <a:cs typeface="Nunito Sans Condensed"/>
                <a:sym typeface="Nunito Sans Condensed"/>
              </a:rPr>
              <a:t>si </a:t>
            </a:r>
            <a:r>
              <a:rPr lang="en-US" sz="2715" strike="noStrike" u="none">
                <a:solidFill>
                  <a:srgbClr val="3D3B3B"/>
                </a:solidFill>
                <a:latin typeface="Nunito Sans Condensed"/>
                <a:ea typeface="Nunito Sans Condensed"/>
                <a:cs typeface="Nunito Sans Condensed"/>
                <a:sym typeface="Nunito Sans Condensed"/>
              </a:rPr>
              <a:t>pop</a:t>
            </a:r>
            <a:r>
              <a:rPr lang="en-US" sz="2715">
                <a:solidFill>
                  <a:srgbClr val="3D3B3B"/>
                </a:solidFill>
                <a:latin typeface="Nunito Sans Condensed"/>
                <a:ea typeface="Nunito Sans Condensed"/>
                <a:cs typeface="Nunito Sans Condensed"/>
                <a:sym typeface="Nunito Sans Condensed"/>
              </a:rPr>
              <a:t>u</a:t>
            </a:r>
            <a:r>
              <a:rPr lang="en-US" sz="2715" strike="noStrike" u="none">
                <a:solidFill>
                  <a:srgbClr val="3D3B3B"/>
                </a:solidFill>
                <a:latin typeface="Nunito Sans Condensed"/>
                <a:ea typeface="Nunito Sans Condensed"/>
                <a:cs typeface="Nunito Sans Condensed"/>
                <a:sym typeface="Nunito Sans Condensed"/>
              </a:rPr>
              <a:t>lasi y</a:t>
            </a:r>
            <a:r>
              <a:rPr lang="en-US" sz="2715">
                <a:solidFill>
                  <a:srgbClr val="3D3B3B"/>
                </a:solidFill>
                <a:latin typeface="Nunito Sans Condensed"/>
                <a:ea typeface="Nunito Sans Condensed"/>
                <a:cs typeface="Nunito Sans Condensed"/>
                <a:sym typeface="Nunito Sans Condensed"/>
              </a:rPr>
              <a:t>ang se</a:t>
            </a:r>
            <a:r>
              <a:rPr lang="en-US" sz="2715" strike="noStrike" u="none">
                <a:solidFill>
                  <a:srgbClr val="3D3B3B"/>
                </a:solidFill>
                <a:latin typeface="Nunito Sans Condensed"/>
                <a:ea typeface="Nunito Sans Condensed"/>
                <a:cs typeface="Nunito Sans Condensed"/>
                <a:sym typeface="Nunito Sans Condensed"/>
              </a:rPr>
              <a:t>be</a:t>
            </a:r>
            <a:r>
              <a:rPr lang="en-US" sz="2715">
                <a:solidFill>
                  <a:srgbClr val="3D3B3B"/>
                </a:solidFill>
                <a:latin typeface="Nunito Sans Condensed"/>
                <a:ea typeface="Nunito Sans Condensed"/>
                <a:cs typeface="Nunito Sans Condensed"/>
                <a:sym typeface="Nunito Sans Condensed"/>
              </a:rPr>
              <a:t>n</a:t>
            </a:r>
            <a:r>
              <a:rPr lang="en-US" sz="2715" strike="noStrike" u="none">
                <a:solidFill>
                  <a:srgbClr val="3D3B3B"/>
                </a:solidFill>
                <a:latin typeface="Nunito Sans Condensed"/>
                <a:ea typeface="Nunito Sans Condensed"/>
                <a:cs typeface="Nunito Sans Condensed"/>
                <a:sym typeface="Nunito Sans Condensed"/>
              </a:rPr>
              <a:t>arnya</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b</a:t>
            </a:r>
            <a:r>
              <a:rPr lang="en-US" sz="2715">
                <a:solidFill>
                  <a:srgbClr val="3D3B3B"/>
                </a:solidFill>
                <a:latin typeface="Nunito Sans Condensed"/>
                <a:ea typeface="Nunito Sans Condensed"/>
                <a:cs typeface="Nunito Sans Condensed"/>
                <a:sym typeface="Nunito Sans Condensed"/>
              </a:rPr>
              <a:t>erada </a:t>
            </a:r>
            <a:r>
              <a:rPr lang="en-US" sz="2715" strike="noStrike" u="none">
                <a:solidFill>
                  <a:srgbClr val="3D3B3B"/>
                </a:solidFill>
                <a:latin typeface="Nunito Sans Condensed"/>
                <a:ea typeface="Nunito Sans Condensed"/>
                <a:cs typeface="Nunito Sans Condensed"/>
                <a:sym typeface="Nunito Sans Condensed"/>
              </a:rPr>
              <a:t>d</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lam</a:t>
            </a:r>
            <a:r>
              <a:rPr lang="en-US" sz="2715">
                <a:solidFill>
                  <a:srgbClr val="3D3B3B"/>
                </a:solidFill>
                <a:latin typeface="Nunito Sans Condensed"/>
                <a:ea typeface="Nunito Sans Condensed"/>
                <a:cs typeface="Nunito Sans Condensed"/>
                <a:sym typeface="Nunito Sans Condensed"/>
              </a:rPr>
              <a:t> </a:t>
            </a:r>
            <a:r>
              <a:rPr lang="en-US" sz="2715" strike="noStrike" u="none">
                <a:solidFill>
                  <a:srgbClr val="3D3B3B"/>
                </a:solidFill>
                <a:latin typeface="Nunito Sans Condensed"/>
                <a:ea typeface="Nunito Sans Condensed"/>
                <a:cs typeface="Nunito Sans Condensed"/>
                <a:sym typeface="Nunito Sans Condensed"/>
              </a:rPr>
              <a:t>rentang hu</a:t>
            </a:r>
            <a:r>
              <a:rPr lang="en-US" sz="2715">
                <a:solidFill>
                  <a:srgbClr val="3D3B3B"/>
                </a:solidFill>
                <a:latin typeface="Nunito Sans Condensed"/>
                <a:ea typeface="Nunito Sans Condensed"/>
                <a:cs typeface="Nunito Sans Condensed"/>
                <a:sym typeface="Nunito Sans Condensed"/>
              </a:rPr>
              <a:t>b</a:t>
            </a:r>
            <a:r>
              <a:rPr lang="en-US" sz="2715" strike="noStrike" u="none">
                <a:solidFill>
                  <a:srgbClr val="3D3B3B"/>
                </a:solidFill>
                <a:latin typeface="Nunito Sans Condensed"/>
                <a:ea typeface="Nunito Sans Condensed"/>
                <a:cs typeface="Nunito Sans Condensed"/>
                <a:sym typeface="Nunito Sans Condensed"/>
              </a:rPr>
              <a:t>ung</a:t>
            </a:r>
            <a:r>
              <a:rPr lang="en-US" sz="2715">
                <a:solidFill>
                  <a:srgbClr val="3D3B3B"/>
                </a:solidFill>
                <a:latin typeface="Nunito Sans Condensed"/>
                <a:ea typeface="Nunito Sans Condensed"/>
                <a:cs typeface="Nunito Sans Condensed"/>
                <a:sym typeface="Nunito Sans Condensed"/>
              </a:rPr>
              <a:t>an</a:t>
            </a:r>
            <a:r>
              <a:rPr lang="en-US" sz="2715" strike="noStrike" u="none">
                <a:solidFill>
                  <a:srgbClr val="3D3B3B"/>
                </a:solidFill>
                <a:latin typeface="Nunito Sans Condensed"/>
                <a:ea typeface="Nunito Sans Condensed"/>
                <a:cs typeface="Nunito Sans Condensed"/>
                <a:sym typeface="Nunito Sans Condensed"/>
              </a:rPr>
              <a:t> ya</a:t>
            </a:r>
            <a:r>
              <a:rPr lang="en-US" sz="2715">
                <a:solidFill>
                  <a:srgbClr val="3D3B3B"/>
                </a:solidFill>
                <a:latin typeface="Nunito Sans Condensed"/>
                <a:ea typeface="Nunito Sans Condensed"/>
                <a:cs typeface="Nunito Sans Condensed"/>
                <a:sym typeface="Nunito Sans Condensed"/>
              </a:rPr>
              <a:t>ng</a:t>
            </a:r>
            <a:r>
              <a:rPr lang="en-US" sz="2715" strike="noStrike" u="none">
                <a:solidFill>
                  <a:srgbClr val="3D3B3B"/>
                </a:solidFill>
                <a:latin typeface="Nunito Sans Condensed"/>
                <a:ea typeface="Nunito Sans Condensed"/>
                <a:cs typeface="Nunito Sans Condensed"/>
                <a:sym typeface="Nunito Sans Condensed"/>
              </a:rPr>
              <a:t> s</a:t>
            </a:r>
            <a:r>
              <a:rPr lang="en-US" sz="2715">
                <a:solidFill>
                  <a:srgbClr val="3D3B3B"/>
                </a:solidFill>
                <a:latin typeface="Nunito Sans Condensed"/>
                <a:ea typeface="Nunito Sans Condensed"/>
                <a:cs typeface="Nunito Sans Condensed"/>
                <a:sym typeface="Nunito Sans Condensed"/>
              </a:rPr>
              <a:t>an</a:t>
            </a:r>
            <a:r>
              <a:rPr lang="en-US" sz="2715" strike="noStrike" u="none">
                <a:solidFill>
                  <a:srgbClr val="3D3B3B"/>
                </a:solidFill>
                <a:latin typeface="Nunito Sans Condensed"/>
                <a:ea typeface="Nunito Sans Condensed"/>
                <a:cs typeface="Nunito Sans Condensed"/>
                <a:sym typeface="Nunito Sans Condensed"/>
              </a:rPr>
              <a:t>gat</a:t>
            </a:r>
            <a:r>
              <a:rPr lang="en-US" sz="2715">
                <a:solidFill>
                  <a:srgbClr val="3D3B3B"/>
                </a:solidFill>
                <a:latin typeface="Nunito Sans Condensed"/>
                <a:ea typeface="Nunito Sans Condensed"/>
                <a:cs typeface="Nunito Sans Condensed"/>
                <a:sym typeface="Nunito Sans Condensed"/>
              </a:rPr>
              <a:t> k</a:t>
            </a:r>
            <a:r>
              <a:rPr lang="en-US" sz="2715" strike="noStrike" u="none">
                <a:solidFill>
                  <a:srgbClr val="3D3B3B"/>
                </a:solidFill>
                <a:latin typeface="Nunito Sans Condensed"/>
                <a:ea typeface="Nunito Sans Condensed"/>
                <a:cs typeface="Nunito Sans Condensed"/>
                <a:sym typeface="Nunito Sans Condensed"/>
              </a:rPr>
              <a:t>u</a:t>
            </a:r>
            <a:r>
              <a:rPr lang="en-US" sz="2715">
                <a:solidFill>
                  <a:srgbClr val="3D3B3B"/>
                </a:solidFill>
                <a:latin typeface="Nunito Sans Condensed"/>
                <a:ea typeface="Nunito Sans Condensed"/>
                <a:cs typeface="Nunito Sans Condensed"/>
                <a:sym typeface="Nunito Sans Condensed"/>
              </a:rPr>
              <a:t>a</a:t>
            </a:r>
            <a:r>
              <a:rPr lang="en-US" sz="2715" strike="noStrike" u="none">
                <a:solidFill>
                  <a:srgbClr val="3D3B3B"/>
                </a:solidFill>
                <a:latin typeface="Nunito Sans Condensed"/>
                <a:ea typeface="Nunito Sans Condensed"/>
                <a:cs typeface="Nunito Sans Condensed"/>
                <a:sym typeface="Nunito Sans Condensed"/>
              </a:rPr>
              <a:t>t</a:t>
            </a:r>
            <a:r>
              <a:rPr lang="en-US" sz="2715">
                <a:solidFill>
                  <a:srgbClr val="3D3B3B"/>
                </a:solidFill>
                <a:latin typeface="Nunito Sans Condensed"/>
                <a:ea typeface="Nunito Sans Condensed"/>
                <a:cs typeface="Nunito Sans Condensed"/>
                <a:sym typeface="Nunito Sans Condensed"/>
              </a:rPr>
              <a:t>.</a:t>
            </a:r>
          </a:p>
          <a:p>
            <a:pPr algn="l">
              <a:lnSpc>
                <a:spcPts val="3801"/>
              </a:lnSpc>
              <a:spcBef>
                <a:spcPct val="0"/>
              </a:spcBef>
            </a:pPr>
          </a:p>
        </p:txBody>
      </p:sp>
      <p:sp>
        <p:nvSpPr>
          <p:cNvPr name="Freeform 14" id="14"/>
          <p:cNvSpPr/>
          <p:nvPr/>
        </p:nvSpPr>
        <p:spPr>
          <a:xfrm flipH="false" flipV="false" rot="0">
            <a:off x="5099940" y="-2535"/>
            <a:ext cx="8088119" cy="1031235"/>
          </a:xfrm>
          <a:custGeom>
            <a:avLst/>
            <a:gdLst/>
            <a:ahLst/>
            <a:cxnLst/>
            <a:rect r="r" b="b" t="t" l="l"/>
            <a:pathLst>
              <a:path h="1031235" w="8088119">
                <a:moveTo>
                  <a:pt x="0" y="0"/>
                </a:moveTo>
                <a:lnTo>
                  <a:pt x="8088120" y="0"/>
                </a:lnTo>
                <a:lnTo>
                  <a:pt x="8088120" y="1031235"/>
                </a:lnTo>
                <a:lnTo>
                  <a:pt x="0" y="103123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5" id="15"/>
          <p:cNvSpPr txBox="true"/>
          <p:nvPr/>
        </p:nvSpPr>
        <p:spPr>
          <a:xfrm rot="0">
            <a:off x="5487874" y="232167"/>
            <a:ext cx="7379272" cy="599930"/>
          </a:xfrm>
          <a:prstGeom prst="rect">
            <a:avLst/>
          </a:prstGeom>
        </p:spPr>
        <p:txBody>
          <a:bodyPr anchor="t" rtlCol="false" tIns="0" lIns="0" bIns="0" rIns="0">
            <a:spAutoFit/>
          </a:bodyPr>
          <a:lstStyle/>
          <a:p>
            <a:pPr algn="ctr" marL="0" indent="0" lvl="0">
              <a:lnSpc>
                <a:spcPts val="4524"/>
              </a:lnSpc>
              <a:spcBef>
                <a:spcPct val="0"/>
              </a:spcBef>
            </a:pPr>
            <a:r>
              <a:rPr lang="en-US" sz="4189">
                <a:solidFill>
                  <a:srgbClr val="3D3B3B"/>
                </a:solidFill>
                <a:latin typeface="Bobby Jones"/>
                <a:ea typeface="Bobby Jones"/>
                <a:cs typeface="Bobby Jones"/>
                <a:sym typeface="Bobby Jones"/>
              </a:rPr>
              <a:t>perbedaan hasil kedua metode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B4E80"/>
        </a:solidFill>
      </p:bgPr>
    </p:bg>
    <p:spTree>
      <p:nvGrpSpPr>
        <p:cNvPr id="1" name=""/>
        <p:cNvGrpSpPr/>
        <p:nvPr/>
      </p:nvGrpSpPr>
      <p:grpSpPr>
        <a:xfrm>
          <a:off x="0" y="0"/>
          <a:ext cx="0" cy="0"/>
          <a:chOff x="0" y="0"/>
          <a:chExt cx="0" cy="0"/>
        </a:xfrm>
      </p:grpSpPr>
      <p:sp>
        <p:nvSpPr>
          <p:cNvPr name="Freeform 2" id="2"/>
          <p:cNvSpPr/>
          <p:nvPr/>
        </p:nvSpPr>
        <p:spPr>
          <a:xfrm flipH="false" flipV="false" rot="2937079">
            <a:off x="-3724536" y="5550160"/>
            <a:ext cx="11267966" cy="5746663"/>
          </a:xfrm>
          <a:custGeom>
            <a:avLst/>
            <a:gdLst/>
            <a:ahLst/>
            <a:cxnLst/>
            <a:rect r="r" b="b" t="t" l="l"/>
            <a:pathLst>
              <a:path h="5746663" w="11267966">
                <a:moveTo>
                  <a:pt x="0" y="0"/>
                </a:moveTo>
                <a:lnTo>
                  <a:pt x="11267966" y="0"/>
                </a:lnTo>
                <a:lnTo>
                  <a:pt x="11267966" y="5746663"/>
                </a:lnTo>
                <a:lnTo>
                  <a:pt x="0" y="5746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2937079">
            <a:off x="10980972" y="-945622"/>
            <a:ext cx="11267966" cy="5746663"/>
          </a:xfrm>
          <a:custGeom>
            <a:avLst/>
            <a:gdLst/>
            <a:ahLst/>
            <a:cxnLst/>
            <a:rect r="r" b="b" t="t" l="l"/>
            <a:pathLst>
              <a:path h="5746663" w="11267966">
                <a:moveTo>
                  <a:pt x="0" y="0"/>
                </a:moveTo>
                <a:lnTo>
                  <a:pt x="11267967" y="0"/>
                </a:lnTo>
                <a:lnTo>
                  <a:pt x="11267967" y="5746663"/>
                </a:lnTo>
                <a:lnTo>
                  <a:pt x="0" y="5746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2450141" y="1863509"/>
            <a:ext cx="13387719" cy="6559982"/>
          </a:xfrm>
          <a:custGeom>
            <a:avLst/>
            <a:gdLst/>
            <a:ahLst/>
            <a:cxnLst/>
            <a:rect r="r" b="b" t="t" l="l"/>
            <a:pathLst>
              <a:path h="6559982" w="13387719">
                <a:moveTo>
                  <a:pt x="0" y="0"/>
                </a:moveTo>
                <a:lnTo>
                  <a:pt x="13387718" y="0"/>
                </a:lnTo>
                <a:lnTo>
                  <a:pt x="13387718" y="6559982"/>
                </a:lnTo>
                <a:lnTo>
                  <a:pt x="0" y="65599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340157" y="4027948"/>
            <a:ext cx="11727659" cy="1801275"/>
          </a:xfrm>
          <a:prstGeom prst="rect">
            <a:avLst/>
          </a:prstGeom>
        </p:spPr>
        <p:txBody>
          <a:bodyPr anchor="t" rtlCol="false" tIns="0" lIns="0" bIns="0" rIns="0">
            <a:spAutoFit/>
          </a:bodyPr>
          <a:lstStyle/>
          <a:p>
            <a:pPr algn="ctr" marL="0" indent="0" lvl="0">
              <a:lnSpc>
                <a:spcPts val="13896"/>
              </a:lnSpc>
              <a:spcBef>
                <a:spcPct val="0"/>
              </a:spcBef>
            </a:pPr>
            <a:r>
              <a:rPr lang="en-US" b="true" sz="12867" strike="noStrike" u="none">
                <a:solidFill>
                  <a:srgbClr val="3D3B3B"/>
                </a:solidFill>
                <a:latin typeface="Nunito Sans Condensed Heavy"/>
                <a:ea typeface="Nunito Sans Condensed Heavy"/>
                <a:cs typeface="Nunito Sans Condensed Heavy"/>
                <a:sym typeface="Nunito Sans Condensed Heavy"/>
              </a:rPr>
              <a:t>Terima Kasih</a:t>
            </a:r>
          </a:p>
        </p:txBody>
      </p:sp>
      <p:sp>
        <p:nvSpPr>
          <p:cNvPr name="TextBox 6" id="6"/>
          <p:cNvSpPr txBox="true"/>
          <p:nvPr/>
        </p:nvSpPr>
        <p:spPr>
          <a:xfrm rot="0">
            <a:off x="4694626" y="5856035"/>
            <a:ext cx="9018719" cy="1555027"/>
          </a:xfrm>
          <a:prstGeom prst="rect">
            <a:avLst/>
          </a:prstGeom>
        </p:spPr>
        <p:txBody>
          <a:bodyPr anchor="t" rtlCol="false" tIns="0" lIns="0" bIns="0" rIns="0">
            <a:spAutoFit/>
          </a:bodyPr>
          <a:lstStyle/>
          <a:p>
            <a:pPr algn="ctr">
              <a:lnSpc>
                <a:spcPts val="6223"/>
              </a:lnSpc>
              <a:spcBef>
                <a:spcPct val="0"/>
              </a:spcBef>
            </a:pPr>
            <a:r>
              <a:rPr lang="en-US" sz="4445">
                <a:solidFill>
                  <a:srgbClr val="3D3B3B"/>
                </a:solidFill>
                <a:latin typeface="Nunito Sans Condensed"/>
                <a:ea typeface="Nunito Sans Condensed"/>
                <a:cs typeface="Nunito Sans Condensed"/>
                <a:sym typeface="Nunito Sans Condensed"/>
              </a:rPr>
              <a:t>Mar</a:t>
            </a:r>
            <a:r>
              <a:rPr lang="en-US" sz="4445" strike="noStrike" u="none">
                <a:solidFill>
                  <a:srgbClr val="3D3B3B"/>
                </a:solidFill>
                <a:latin typeface="Nunito Sans Condensed"/>
                <a:ea typeface="Nunito Sans Condensed"/>
                <a:cs typeface="Nunito Sans Condensed"/>
                <a:sym typeface="Nunito Sans Condensed"/>
              </a:rPr>
              <a:t>i kita belajar Komputasi Statistik yang menyenangkan dan bermakna!</a:t>
            </a:r>
          </a:p>
        </p:txBody>
      </p:sp>
      <p:sp>
        <p:nvSpPr>
          <p:cNvPr name="Freeform 7" id="7"/>
          <p:cNvSpPr/>
          <p:nvPr/>
        </p:nvSpPr>
        <p:spPr>
          <a:xfrm flipH="true" flipV="false" rot="-6187172">
            <a:off x="13483663" y="26865"/>
            <a:ext cx="6040737" cy="739990"/>
          </a:xfrm>
          <a:custGeom>
            <a:avLst/>
            <a:gdLst/>
            <a:ahLst/>
            <a:cxnLst/>
            <a:rect r="r" b="b" t="t" l="l"/>
            <a:pathLst>
              <a:path h="739990" w="6040737">
                <a:moveTo>
                  <a:pt x="6040736" y="0"/>
                </a:moveTo>
                <a:lnTo>
                  <a:pt x="0" y="0"/>
                </a:lnTo>
                <a:lnTo>
                  <a:pt x="0" y="739990"/>
                </a:lnTo>
                <a:lnTo>
                  <a:pt x="6040736" y="739990"/>
                </a:lnTo>
                <a:lnTo>
                  <a:pt x="604073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6971835">
            <a:off x="13129868" y="-443354"/>
            <a:ext cx="3675470" cy="886707"/>
          </a:xfrm>
          <a:custGeom>
            <a:avLst/>
            <a:gdLst/>
            <a:ahLst/>
            <a:cxnLst/>
            <a:rect r="r" b="b" t="t" l="l"/>
            <a:pathLst>
              <a:path h="886707" w="3675470">
                <a:moveTo>
                  <a:pt x="0" y="0"/>
                </a:moveTo>
                <a:lnTo>
                  <a:pt x="3675470" y="0"/>
                </a:lnTo>
                <a:lnTo>
                  <a:pt x="3675470" y="886708"/>
                </a:lnTo>
                <a:lnTo>
                  <a:pt x="0" y="8867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true" rot="756995">
            <a:off x="-281317" y="6830471"/>
            <a:ext cx="2086634" cy="4381383"/>
          </a:xfrm>
          <a:custGeom>
            <a:avLst/>
            <a:gdLst/>
            <a:ahLst/>
            <a:cxnLst/>
            <a:rect r="r" b="b" t="t" l="l"/>
            <a:pathLst>
              <a:path h="4381383" w="2086634">
                <a:moveTo>
                  <a:pt x="2086634" y="4381383"/>
                </a:moveTo>
                <a:lnTo>
                  <a:pt x="0" y="4381383"/>
                </a:lnTo>
                <a:lnTo>
                  <a:pt x="0" y="0"/>
                </a:lnTo>
                <a:lnTo>
                  <a:pt x="2086634" y="0"/>
                </a:lnTo>
                <a:lnTo>
                  <a:pt x="2086634" y="438138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6158752">
            <a:off x="1180596" y="9270397"/>
            <a:ext cx="3578625" cy="1789313"/>
          </a:xfrm>
          <a:custGeom>
            <a:avLst/>
            <a:gdLst/>
            <a:ahLst/>
            <a:cxnLst/>
            <a:rect r="r" b="b" t="t" l="l"/>
            <a:pathLst>
              <a:path h="1789313" w="3578625">
                <a:moveTo>
                  <a:pt x="0" y="0"/>
                </a:moveTo>
                <a:lnTo>
                  <a:pt x="3578626" y="0"/>
                </a:lnTo>
                <a:lnTo>
                  <a:pt x="3578626" y="1789312"/>
                </a:lnTo>
                <a:lnTo>
                  <a:pt x="0" y="17893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856452">
            <a:off x="15282116" y="7253526"/>
            <a:ext cx="3954369" cy="2595054"/>
          </a:xfrm>
          <a:custGeom>
            <a:avLst/>
            <a:gdLst/>
            <a:ahLst/>
            <a:cxnLst/>
            <a:rect r="r" b="b" t="t" l="l"/>
            <a:pathLst>
              <a:path h="2595054" w="3954369">
                <a:moveTo>
                  <a:pt x="0" y="0"/>
                </a:moveTo>
                <a:lnTo>
                  <a:pt x="3954368" y="0"/>
                </a:lnTo>
                <a:lnTo>
                  <a:pt x="3954368" y="2595055"/>
                </a:lnTo>
                <a:lnTo>
                  <a:pt x="0" y="259505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2" id="12"/>
          <p:cNvSpPr/>
          <p:nvPr/>
        </p:nvSpPr>
        <p:spPr>
          <a:xfrm flipH="false" flipV="false" rot="0">
            <a:off x="288265" y="-1041299"/>
            <a:ext cx="2460566" cy="2969009"/>
          </a:xfrm>
          <a:custGeom>
            <a:avLst/>
            <a:gdLst/>
            <a:ahLst/>
            <a:cxnLst/>
            <a:rect r="r" b="b" t="t" l="l"/>
            <a:pathLst>
              <a:path h="2969009" w="2460566">
                <a:moveTo>
                  <a:pt x="0" y="0"/>
                </a:moveTo>
                <a:lnTo>
                  <a:pt x="2460566" y="0"/>
                </a:lnTo>
                <a:lnTo>
                  <a:pt x="2460566" y="2969009"/>
                </a:lnTo>
                <a:lnTo>
                  <a:pt x="0" y="296900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764500" y="-127044"/>
            <a:ext cx="1508096" cy="1140498"/>
          </a:xfrm>
          <a:custGeom>
            <a:avLst/>
            <a:gdLst/>
            <a:ahLst/>
            <a:cxnLst/>
            <a:rect r="r" b="b" t="t" l="l"/>
            <a:pathLst>
              <a:path h="1140498" w="1508096">
                <a:moveTo>
                  <a:pt x="0" y="0"/>
                </a:moveTo>
                <a:lnTo>
                  <a:pt x="1508096" y="0"/>
                </a:lnTo>
                <a:lnTo>
                  <a:pt x="1508096" y="1140498"/>
                </a:lnTo>
                <a:lnTo>
                  <a:pt x="0" y="114049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false" flipV="false" rot="1269499">
            <a:off x="10770298" y="8661258"/>
            <a:ext cx="1817608" cy="2677876"/>
          </a:xfrm>
          <a:custGeom>
            <a:avLst/>
            <a:gdLst/>
            <a:ahLst/>
            <a:cxnLst/>
            <a:rect r="r" b="b" t="t" l="l"/>
            <a:pathLst>
              <a:path h="2677876" w="1817608">
                <a:moveTo>
                  <a:pt x="0" y="0"/>
                </a:moveTo>
                <a:lnTo>
                  <a:pt x="1817608" y="0"/>
                </a:lnTo>
                <a:lnTo>
                  <a:pt x="1817608" y="2677876"/>
                </a:lnTo>
                <a:lnTo>
                  <a:pt x="0" y="26778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5" id="15"/>
          <p:cNvSpPr/>
          <p:nvPr/>
        </p:nvSpPr>
        <p:spPr>
          <a:xfrm flipH="false" flipV="false" rot="1269499">
            <a:off x="11326944" y="9136004"/>
            <a:ext cx="704316" cy="1728383"/>
          </a:xfrm>
          <a:custGeom>
            <a:avLst/>
            <a:gdLst/>
            <a:ahLst/>
            <a:cxnLst/>
            <a:rect r="r" b="b" t="t" l="l"/>
            <a:pathLst>
              <a:path h="1728383" w="704316">
                <a:moveTo>
                  <a:pt x="0" y="0"/>
                </a:moveTo>
                <a:lnTo>
                  <a:pt x="704316" y="0"/>
                </a:lnTo>
                <a:lnTo>
                  <a:pt x="704316" y="1728384"/>
                </a:lnTo>
                <a:lnTo>
                  <a:pt x="0" y="172838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6" id="16"/>
          <p:cNvSpPr/>
          <p:nvPr/>
        </p:nvSpPr>
        <p:spPr>
          <a:xfrm flipH="false" flipV="false" rot="-628320">
            <a:off x="13575553" y="8251160"/>
            <a:ext cx="2282834" cy="2377952"/>
          </a:xfrm>
          <a:custGeom>
            <a:avLst/>
            <a:gdLst/>
            <a:ahLst/>
            <a:cxnLst/>
            <a:rect r="r" b="b" t="t" l="l"/>
            <a:pathLst>
              <a:path h="2377952" w="2282834">
                <a:moveTo>
                  <a:pt x="0" y="0"/>
                </a:moveTo>
                <a:lnTo>
                  <a:pt x="2282834" y="0"/>
                </a:lnTo>
                <a:lnTo>
                  <a:pt x="2282834" y="2377952"/>
                </a:lnTo>
                <a:lnTo>
                  <a:pt x="0" y="237795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7" id="17"/>
          <p:cNvSpPr/>
          <p:nvPr/>
        </p:nvSpPr>
        <p:spPr>
          <a:xfrm flipH="false" flipV="false" rot="-628320">
            <a:off x="13805471" y="8704150"/>
            <a:ext cx="1996434" cy="1432442"/>
          </a:xfrm>
          <a:custGeom>
            <a:avLst/>
            <a:gdLst/>
            <a:ahLst/>
            <a:cxnLst/>
            <a:rect r="r" b="b" t="t" l="l"/>
            <a:pathLst>
              <a:path h="1432442" w="1996434">
                <a:moveTo>
                  <a:pt x="0" y="0"/>
                </a:moveTo>
                <a:lnTo>
                  <a:pt x="1996434" y="0"/>
                </a:lnTo>
                <a:lnTo>
                  <a:pt x="1996434" y="1432442"/>
                </a:lnTo>
                <a:lnTo>
                  <a:pt x="0" y="1432442"/>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DAG5DhLh4M4</dc:identifier>
  <dcterms:modified xsi:type="dcterms:W3CDTF">2011-08-01T06:04:30Z</dcterms:modified>
  <cp:revision>1</cp:revision>
  <dc:title>Komstat Stress katanya</dc:title>
</cp:coreProperties>
</file>